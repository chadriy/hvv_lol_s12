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3"/>
  </p:sldIdLst>
  <p:sldSz cx="51198780" cy="5119878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126" userDrawn="1">
          <p15:clr>
            <a:srgbClr val="A4A3A4"/>
          </p15:clr>
        </p15:guide>
        <p15:guide id="2" pos="1612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16126"/>
        <p:guide pos="1612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400210" y="8379767"/>
            <a:ext cx="38401259" cy="17826257"/>
          </a:xfrm>
        </p:spPr>
        <p:txBody>
          <a:bodyPr anchor="b"/>
          <a:lstStyle>
            <a:lvl1pPr algn="ctr">
              <a:defRPr sz="336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6400210" y="26893472"/>
            <a:ext cx="38401259" cy="12362221"/>
          </a:xfrm>
        </p:spPr>
        <p:txBody>
          <a:bodyPr/>
          <a:lstStyle>
            <a:lvl1pPr marL="0" indent="0" algn="ctr">
              <a:buNone/>
              <a:defRPr sz="13440"/>
            </a:lvl1pPr>
            <a:lvl2pPr marL="2560320" indent="0" algn="ctr">
              <a:buNone/>
              <a:defRPr sz="11200"/>
            </a:lvl2pPr>
            <a:lvl3pPr marL="5120640" indent="0" algn="ctr">
              <a:buNone/>
              <a:defRPr sz="10085"/>
            </a:lvl3pPr>
            <a:lvl4pPr marL="7680960" indent="0" algn="ctr">
              <a:buNone/>
              <a:defRPr sz="8960"/>
            </a:lvl4pPr>
            <a:lvl5pPr marL="10239375" indent="0" algn="ctr">
              <a:buNone/>
              <a:defRPr sz="8960"/>
            </a:lvl5pPr>
            <a:lvl6pPr marL="12799695" indent="0" algn="ctr">
              <a:buNone/>
              <a:defRPr sz="8960"/>
            </a:lvl6pPr>
            <a:lvl7pPr marL="15360015" indent="0" algn="ctr">
              <a:buNone/>
              <a:defRPr sz="8960"/>
            </a:lvl7pPr>
            <a:lvl8pPr marL="17921605" indent="0" algn="ctr">
              <a:buNone/>
              <a:defRPr sz="8960"/>
            </a:lvl8pPr>
            <a:lvl9pPr marL="20481925" indent="0" algn="ctr">
              <a:buNone/>
              <a:defRPr sz="896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93448" y="12765215"/>
            <a:ext cx="44161447" cy="21299054"/>
          </a:xfrm>
        </p:spPr>
        <p:txBody>
          <a:bodyPr anchor="b"/>
          <a:lstStyle>
            <a:lvl1pPr>
              <a:defRPr sz="336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493448" y="34265767"/>
            <a:ext cx="44161447" cy="11200669"/>
          </a:xfrm>
        </p:spPr>
        <p:txBody>
          <a:bodyPr/>
          <a:lstStyle>
            <a:lvl1pPr marL="0" indent="0">
              <a:buNone/>
              <a:defRPr sz="13440">
                <a:solidFill>
                  <a:schemeClr val="tx1">
                    <a:tint val="75000"/>
                  </a:schemeClr>
                </a:solidFill>
              </a:defRPr>
            </a:lvl1pPr>
            <a:lvl2pPr marL="2560320" indent="0">
              <a:buNone/>
              <a:defRPr sz="11200">
                <a:solidFill>
                  <a:schemeClr val="tx1">
                    <a:tint val="75000"/>
                  </a:schemeClr>
                </a:solidFill>
              </a:defRPr>
            </a:lvl2pPr>
            <a:lvl3pPr marL="5120640" indent="0">
              <a:buNone/>
              <a:defRPr sz="10085">
                <a:solidFill>
                  <a:schemeClr val="tx1">
                    <a:tint val="75000"/>
                  </a:schemeClr>
                </a:solidFill>
              </a:defRPr>
            </a:lvl3pPr>
            <a:lvl4pPr marL="7680960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4pPr>
            <a:lvl5pPr marL="1023937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5pPr>
            <a:lvl6pPr marL="1279969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6pPr>
            <a:lvl7pPr marL="1536001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7pPr>
            <a:lvl8pPr marL="1792160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8pPr>
            <a:lvl9pPr marL="2048192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3520115" y="13630449"/>
            <a:ext cx="21760713" cy="32487882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25920850" y="13630449"/>
            <a:ext cx="21760713" cy="32487882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526784" y="2726090"/>
            <a:ext cx="44161447" cy="9896895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526784" y="12551869"/>
            <a:ext cx="21660708" cy="6151477"/>
          </a:xfrm>
        </p:spPr>
        <p:txBody>
          <a:bodyPr anchor="b"/>
          <a:lstStyle>
            <a:lvl1pPr marL="0" indent="0">
              <a:buNone/>
              <a:defRPr sz="13440" b="1"/>
            </a:lvl1pPr>
            <a:lvl2pPr marL="2560320" indent="0">
              <a:buNone/>
              <a:defRPr sz="11200" b="1"/>
            </a:lvl2pPr>
            <a:lvl3pPr marL="5120640" indent="0">
              <a:buNone/>
              <a:defRPr sz="10085" b="1"/>
            </a:lvl3pPr>
            <a:lvl4pPr marL="7680960" indent="0">
              <a:buNone/>
              <a:defRPr sz="8960" b="1"/>
            </a:lvl4pPr>
            <a:lvl5pPr marL="10239375" indent="0">
              <a:buNone/>
              <a:defRPr sz="8960" b="1"/>
            </a:lvl5pPr>
            <a:lvl6pPr marL="12799695" indent="0">
              <a:buNone/>
              <a:defRPr sz="8960" b="1"/>
            </a:lvl6pPr>
            <a:lvl7pPr marL="15360015" indent="0">
              <a:buNone/>
              <a:defRPr sz="8960" b="1"/>
            </a:lvl7pPr>
            <a:lvl8pPr marL="17921605" indent="0">
              <a:buNone/>
              <a:defRPr sz="8960" b="1"/>
            </a:lvl8pPr>
            <a:lvl9pPr marL="20481925" indent="0">
              <a:buNone/>
              <a:defRPr sz="896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526784" y="18703346"/>
            <a:ext cx="21660708" cy="27509805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25920850" y="12551869"/>
            <a:ext cx="21767382" cy="6151477"/>
          </a:xfrm>
        </p:spPr>
        <p:txBody>
          <a:bodyPr anchor="b"/>
          <a:lstStyle>
            <a:lvl1pPr marL="0" indent="0">
              <a:buNone/>
              <a:defRPr sz="13440" b="1"/>
            </a:lvl1pPr>
            <a:lvl2pPr marL="2560320" indent="0">
              <a:buNone/>
              <a:defRPr sz="11200" b="1"/>
            </a:lvl2pPr>
            <a:lvl3pPr marL="5120640" indent="0">
              <a:buNone/>
              <a:defRPr sz="10085" b="1"/>
            </a:lvl3pPr>
            <a:lvl4pPr marL="7680960" indent="0">
              <a:buNone/>
              <a:defRPr sz="8960" b="1"/>
            </a:lvl4pPr>
            <a:lvl5pPr marL="10239375" indent="0">
              <a:buNone/>
              <a:defRPr sz="8960" b="1"/>
            </a:lvl5pPr>
            <a:lvl6pPr marL="12799695" indent="0">
              <a:buNone/>
              <a:defRPr sz="8960" b="1"/>
            </a:lvl6pPr>
            <a:lvl7pPr marL="15360015" indent="0">
              <a:buNone/>
              <a:defRPr sz="8960" b="1"/>
            </a:lvl7pPr>
            <a:lvl8pPr marL="17921605" indent="0">
              <a:buNone/>
              <a:defRPr sz="8960" b="1"/>
            </a:lvl8pPr>
            <a:lvl9pPr marL="20481925" indent="0">
              <a:buNone/>
              <a:defRPr sz="896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25920850" y="18703346"/>
            <a:ext cx="21767382" cy="27509805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526784" y="3413538"/>
            <a:ext cx="16513873" cy="11947385"/>
          </a:xfrm>
        </p:spPr>
        <p:txBody>
          <a:bodyPr anchor="b"/>
          <a:lstStyle>
            <a:lvl1pPr>
              <a:defRPr sz="1792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1767382" y="7372295"/>
            <a:ext cx="25920850" cy="36387372"/>
          </a:xfrm>
        </p:spPr>
        <p:txBody>
          <a:bodyPr/>
          <a:lstStyle>
            <a:lvl1pPr>
              <a:defRPr sz="17920"/>
            </a:lvl1pPr>
            <a:lvl2pPr>
              <a:defRPr sz="15680"/>
            </a:lvl2pPr>
            <a:lvl3pPr>
              <a:defRPr sz="13440"/>
            </a:lvl3pPr>
            <a:lvl4pPr>
              <a:defRPr sz="11200"/>
            </a:lvl4pPr>
            <a:lvl5pPr>
              <a:defRPr sz="11200"/>
            </a:lvl5pPr>
            <a:lvl6pPr>
              <a:defRPr sz="11200"/>
            </a:lvl6pPr>
            <a:lvl7pPr>
              <a:defRPr sz="11200"/>
            </a:lvl7pPr>
            <a:lvl8pPr>
              <a:defRPr sz="11200"/>
            </a:lvl8pPr>
            <a:lvl9pPr>
              <a:defRPr sz="112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3526784" y="15360923"/>
            <a:ext cx="16513873" cy="28458010"/>
          </a:xfrm>
        </p:spPr>
        <p:txBody>
          <a:bodyPr/>
          <a:lstStyle>
            <a:lvl1pPr marL="0" indent="0">
              <a:buNone/>
              <a:defRPr sz="8960"/>
            </a:lvl1pPr>
            <a:lvl2pPr marL="2560320" indent="0">
              <a:buNone/>
              <a:defRPr sz="7845"/>
            </a:lvl2pPr>
            <a:lvl3pPr marL="5120640" indent="0">
              <a:buNone/>
              <a:defRPr sz="6720"/>
            </a:lvl3pPr>
            <a:lvl4pPr marL="7680960" indent="0">
              <a:buNone/>
              <a:defRPr sz="5605"/>
            </a:lvl4pPr>
            <a:lvl5pPr marL="10239375" indent="0">
              <a:buNone/>
              <a:defRPr sz="5605"/>
            </a:lvl5pPr>
            <a:lvl6pPr marL="12799695" indent="0">
              <a:buNone/>
              <a:defRPr sz="5605"/>
            </a:lvl6pPr>
            <a:lvl7pPr marL="15360015" indent="0">
              <a:buNone/>
              <a:defRPr sz="5605"/>
            </a:lvl7pPr>
            <a:lvl8pPr marL="17921605" indent="0">
              <a:buNone/>
              <a:defRPr sz="5605"/>
            </a:lvl8pPr>
            <a:lvl9pPr marL="20481925" indent="0">
              <a:buNone/>
              <a:defRPr sz="560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526784" y="3413538"/>
            <a:ext cx="16513873" cy="11947385"/>
          </a:xfrm>
        </p:spPr>
        <p:txBody>
          <a:bodyPr anchor="b"/>
          <a:lstStyle>
            <a:lvl1pPr>
              <a:defRPr sz="1792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1767382" y="7372295"/>
            <a:ext cx="25920850" cy="36387372"/>
          </a:xfrm>
        </p:spPr>
        <p:txBody>
          <a:bodyPr/>
          <a:lstStyle>
            <a:lvl1pPr marL="0" indent="0">
              <a:buNone/>
              <a:defRPr sz="17920"/>
            </a:lvl1pPr>
            <a:lvl2pPr marL="2560320" indent="0">
              <a:buNone/>
              <a:defRPr sz="15680"/>
            </a:lvl2pPr>
            <a:lvl3pPr marL="5120640" indent="0">
              <a:buNone/>
              <a:defRPr sz="13440"/>
            </a:lvl3pPr>
            <a:lvl4pPr marL="7680960" indent="0">
              <a:buNone/>
              <a:defRPr sz="11200"/>
            </a:lvl4pPr>
            <a:lvl5pPr marL="10239375" indent="0">
              <a:buNone/>
              <a:defRPr sz="11200"/>
            </a:lvl5pPr>
            <a:lvl6pPr marL="12799695" indent="0">
              <a:buNone/>
              <a:defRPr sz="11200"/>
            </a:lvl6pPr>
            <a:lvl7pPr marL="15360015" indent="0">
              <a:buNone/>
              <a:defRPr sz="11200"/>
            </a:lvl7pPr>
            <a:lvl8pPr marL="17921605" indent="0">
              <a:buNone/>
              <a:defRPr sz="11200"/>
            </a:lvl8pPr>
            <a:lvl9pPr marL="20481925" indent="0">
              <a:buNone/>
              <a:defRPr sz="112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3526784" y="15360923"/>
            <a:ext cx="16513873" cy="28458010"/>
          </a:xfrm>
        </p:spPr>
        <p:txBody>
          <a:bodyPr/>
          <a:lstStyle>
            <a:lvl1pPr marL="0" indent="0">
              <a:buNone/>
              <a:defRPr sz="8960"/>
            </a:lvl1pPr>
            <a:lvl2pPr marL="2560320" indent="0">
              <a:buNone/>
              <a:defRPr sz="7845"/>
            </a:lvl2pPr>
            <a:lvl3pPr marL="5120640" indent="0">
              <a:buNone/>
              <a:defRPr sz="6720"/>
            </a:lvl3pPr>
            <a:lvl4pPr marL="7680960" indent="0">
              <a:buNone/>
              <a:defRPr sz="5605"/>
            </a:lvl4pPr>
            <a:lvl5pPr marL="10239375" indent="0">
              <a:buNone/>
              <a:defRPr sz="5605"/>
            </a:lvl5pPr>
            <a:lvl6pPr marL="12799695" indent="0">
              <a:buNone/>
              <a:defRPr sz="5605"/>
            </a:lvl6pPr>
            <a:lvl7pPr marL="15360015" indent="0">
              <a:buNone/>
              <a:defRPr sz="5605"/>
            </a:lvl7pPr>
            <a:lvl8pPr marL="17921605" indent="0">
              <a:buNone/>
              <a:defRPr sz="5605"/>
            </a:lvl8pPr>
            <a:lvl9pPr marL="20481925" indent="0">
              <a:buNone/>
              <a:defRPr sz="560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36641201" y="2726090"/>
            <a:ext cx="11040362" cy="43392241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520115" y="2726090"/>
            <a:ext cx="32481065" cy="43392241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3520115" y="2726090"/>
            <a:ext cx="44161447" cy="98968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520115" y="13630449"/>
            <a:ext cx="44161447" cy="324878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3520115" y="47457667"/>
            <a:ext cx="11520378" cy="272609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16960556" y="47457667"/>
            <a:ext cx="17280566" cy="272609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36161185" y="47457667"/>
            <a:ext cx="11520378" cy="272609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5120640" rtl="0" eaLnBrk="1" latinLnBrk="0" hangingPunct="1">
        <a:lnSpc>
          <a:spcPct val="90000"/>
        </a:lnSpc>
        <a:spcBef>
          <a:spcPct val="0"/>
        </a:spcBef>
        <a:buNone/>
        <a:defRPr sz="246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80795" indent="-1280795" algn="l" defTabSz="5120640" rtl="0" eaLnBrk="1" latinLnBrk="0" hangingPunct="1">
        <a:lnSpc>
          <a:spcPct val="90000"/>
        </a:lnSpc>
        <a:spcBef>
          <a:spcPts val="5610"/>
        </a:spcBef>
        <a:buFont typeface="Arial" panose="020B0604020202020204" pitchFamily="34" charset="0"/>
        <a:buChar char="•"/>
        <a:defRPr sz="15680" kern="1200">
          <a:solidFill>
            <a:schemeClr val="tx1"/>
          </a:solidFill>
          <a:latin typeface="+mn-lt"/>
          <a:ea typeface="+mn-ea"/>
          <a:cs typeface="+mn-cs"/>
        </a:defRPr>
      </a:lvl1pPr>
      <a:lvl2pPr marL="3841115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2pPr>
      <a:lvl3pPr marL="6401435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1200" kern="1200">
          <a:solidFill>
            <a:schemeClr val="tx1"/>
          </a:solidFill>
          <a:latin typeface="+mn-lt"/>
          <a:ea typeface="+mn-ea"/>
          <a:cs typeface="+mn-cs"/>
        </a:defRPr>
      </a:lvl3pPr>
      <a:lvl4pPr marL="8961755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4pPr>
      <a:lvl5pPr marL="1152017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5pPr>
      <a:lvl6pPr marL="1408049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6pPr>
      <a:lvl7pPr marL="1664081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7pPr>
      <a:lvl8pPr marL="1920113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8pPr>
      <a:lvl9pPr marL="2176145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1pPr>
      <a:lvl2pPr marL="256032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2pPr>
      <a:lvl3pPr marL="512064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4pPr>
      <a:lvl5pPr marL="1023937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5pPr>
      <a:lvl6pPr marL="1279969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6pPr>
      <a:lvl7pPr marL="1536001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7pPr>
      <a:lvl8pPr marL="1792160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8pPr>
      <a:lvl9pPr marL="2048192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2" name="组合 1"/>
          <p:cNvGrpSpPr/>
          <p:nvPr/>
        </p:nvGrpSpPr>
        <p:grpSpPr>
          <a:xfrm>
            <a:off x="1007745" y="295275"/>
            <a:ext cx="48560355" cy="49569370"/>
            <a:chOff x="1587" y="465"/>
            <a:chExt cx="76473" cy="78062"/>
          </a:xfrm>
        </p:grpSpPr>
        <p:grpSp>
          <p:nvGrpSpPr>
            <p:cNvPr id="99" name="组合 98"/>
            <p:cNvGrpSpPr/>
            <p:nvPr/>
          </p:nvGrpSpPr>
          <p:grpSpPr>
            <a:xfrm rot="0">
              <a:off x="1587" y="47267"/>
              <a:ext cx="47893" cy="31261"/>
              <a:chOff x="14110" y="1022"/>
              <a:chExt cx="41334" cy="43538"/>
            </a:xfrm>
          </p:grpSpPr>
          <p:sp>
            <p:nvSpPr>
              <p:cNvPr id="98" name="矩形 97"/>
              <p:cNvSpPr/>
              <p:nvPr/>
            </p:nvSpPr>
            <p:spPr>
              <a:xfrm>
                <a:off x="14110" y="3899"/>
                <a:ext cx="41334" cy="4066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14110" y="1022"/>
                <a:ext cx="41334" cy="2877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algn="ctr"/>
                <a:r>
                  <a:rPr lang="en-US" altLang="zh-CN" sz="720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8</a:t>
                </a:r>
                <a:r>
                  <a:rPr lang="zh-CN" altLang="en-US" sz="720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进</a:t>
                </a:r>
                <a:r>
                  <a:rPr lang="en-US" altLang="zh-CN" sz="720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4</a:t>
                </a:r>
                <a:r>
                  <a:rPr lang="zh-CN" altLang="en-US" sz="720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淘汰赛</a:t>
                </a:r>
                <a:endPara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</p:grpSp>
        <p:grpSp>
          <p:nvGrpSpPr>
            <p:cNvPr id="46" name="组合 45"/>
            <p:cNvGrpSpPr/>
            <p:nvPr/>
          </p:nvGrpSpPr>
          <p:grpSpPr>
            <a:xfrm>
              <a:off x="2671" y="50019"/>
              <a:ext cx="46313" cy="27626"/>
              <a:chOff x="13865" y="49293"/>
              <a:chExt cx="35119" cy="21628"/>
            </a:xfrm>
          </p:grpSpPr>
          <p:grpSp>
            <p:nvGrpSpPr>
              <p:cNvPr id="101" name="组合 100"/>
              <p:cNvGrpSpPr/>
              <p:nvPr/>
            </p:nvGrpSpPr>
            <p:grpSpPr>
              <a:xfrm rot="0">
                <a:off x="13865" y="50876"/>
                <a:ext cx="11063" cy="9221"/>
                <a:chOff x="29092" y="4819"/>
                <a:chExt cx="10668" cy="12728"/>
              </a:xfrm>
            </p:grpSpPr>
            <p:sp>
              <p:nvSpPr>
                <p:cNvPr id="70" name="文本框 69"/>
                <p:cNvSpPr txBox="1"/>
                <p:nvPr/>
              </p:nvSpPr>
              <p:spPr>
                <a:xfrm>
                  <a:off x="29092" y="4819"/>
                  <a:ext cx="10668" cy="2186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txBody>
                <a:bodyPr wrap="square" rtlCol="0" anchor="ctr" anchorCtr="0">
                  <a:noAutofit/>
                </a:bodyPr>
                <a:p>
                  <a:pPr algn="ctr"/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第二轮</a:t>
                  </a:r>
                  <a:r>
                    <a:rPr lang="en-US" altLang="zh-CN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(1-0</a:t>
                  </a:r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分组</a:t>
                  </a:r>
                  <a:r>
                    <a:rPr lang="en-US" altLang="zh-CN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)</a:t>
                  </a:r>
                  <a:endPara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endParaRPr>
                </a:p>
              </p:txBody>
            </p:sp>
            <p:sp>
              <p:nvSpPr>
                <p:cNvPr id="71" name="矩形 70"/>
                <p:cNvSpPr/>
                <p:nvPr/>
              </p:nvSpPr>
              <p:spPr>
                <a:xfrm>
                  <a:off x="29092" y="7005"/>
                  <a:ext cx="10668" cy="10543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  <a:prstDash val="dash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560"/>
                </a:p>
              </p:txBody>
            </p:sp>
            <p:grpSp>
              <p:nvGrpSpPr>
                <p:cNvPr id="72" name="组合 71"/>
                <p:cNvGrpSpPr/>
                <p:nvPr/>
              </p:nvGrpSpPr>
              <p:grpSpPr>
                <a:xfrm rot="0">
                  <a:off x="30331" y="7682"/>
                  <a:ext cx="8190" cy="4137"/>
                  <a:chOff x="431" y="349"/>
                  <a:chExt cx="3918" cy="1789"/>
                </a:xfrm>
              </p:grpSpPr>
              <p:sp>
                <p:nvSpPr>
                  <p:cNvPr id="73" name="矩形 72"/>
                  <p:cNvSpPr/>
                  <p:nvPr/>
                </p:nvSpPr>
                <p:spPr>
                  <a:xfrm>
                    <a:off x="431" y="349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待定</a:t>
                    </a:r>
                    <a:endParaRPr lang="en-US" altLang="zh-CN" sz="4550" b="1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4" name="矩形 73"/>
                  <p:cNvSpPr/>
                  <p:nvPr/>
                </p:nvSpPr>
                <p:spPr>
                  <a:xfrm>
                    <a:off x="3633" y="349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rgbClr val="0070C0"/>
                        </a:solidFill>
                      </a:rPr>
                      <a:t>/</a:t>
                    </a:r>
                    <a:endParaRPr lang="en-US" sz="4550" b="1">
                      <a:solidFill>
                        <a:srgbClr val="0070C0"/>
                      </a:solidFill>
                    </a:endParaRPr>
                  </a:p>
                </p:txBody>
              </p:sp>
              <p:sp>
                <p:nvSpPr>
                  <p:cNvPr id="75" name="矩形 74"/>
                  <p:cNvSpPr/>
                  <p:nvPr/>
                </p:nvSpPr>
                <p:spPr>
                  <a:xfrm>
                    <a:off x="431" y="1244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待定</a:t>
                    </a:r>
                    <a:endParaRPr lang="en-US" altLang="zh-CN" sz="4550" b="1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6" name="矩形 75"/>
                  <p:cNvSpPr/>
                  <p:nvPr/>
                </p:nvSpPr>
                <p:spPr>
                  <a:xfrm>
                    <a:off x="3633" y="1244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rgbClr val="0070C0"/>
                        </a:solidFill>
                      </a:rPr>
                      <a:t>/</a:t>
                    </a:r>
                    <a:endParaRPr lang="en-US" sz="4550" b="1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77" name="组合 76"/>
                <p:cNvGrpSpPr/>
                <p:nvPr/>
              </p:nvGrpSpPr>
              <p:grpSpPr>
                <a:xfrm rot="0">
                  <a:off x="30333" y="12617"/>
                  <a:ext cx="8190" cy="4137"/>
                  <a:chOff x="431" y="349"/>
                  <a:chExt cx="3918" cy="1789"/>
                </a:xfrm>
              </p:grpSpPr>
              <p:sp>
                <p:nvSpPr>
                  <p:cNvPr id="78" name="矩形 77"/>
                  <p:cNvSpPr/>
                  <p:nvPr/>
                </p:nvSpPr>
                <p:spPr>
                  <a:xfrm>
                    <a:off x="431" y="349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待定</a:t>
                    </a:r>
                    <a:endParaRPr lang="en-US" altLang="zh-CN" sz="4550" b="1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9" name="矩形 78"/>
                  <p:cNvSpPr/>
                  <p:nvPr/>
                </p:nvSpPr>
                <p:spPr>
                  <a:xfrm>
                    <a:off x="3633" y="349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rgbClr val="0070C0"/>
                        </a:solidFill>
                      </a:rPr>
                      <a:t>/</a:t>
                    </a:r>
                    <a:endParaRPr lang="en-US" sz="4550" b="1">
                      <a:solidFill>
                        <a:srgbClr val="0070C0"/>
                      </a:solidFill>
                    </a:endParaRPr>
                  </a:p>
                </p:txBody>
              </p:sp>
              <p:sp>
                <p:nvSpPr>
                  <p:cNvPr id="80" name="矩形 79"/>
                  <p:cNvSpPr/>
                  <p:nvPr/>
                </p:nvSpPr>
                <p:spPr>
                  <a:xfrm>
                    <a:off x="431" y="1244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待定</a:t>
                    </a:r>
                    <a:endParaRPr lang="en-US" altLang="zh-CN" sz="4550" b="1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1" name="矩形 80"/>
                  <p:cNvSpPr/>
                  <p:nvPr/>
                </p:nvSpPr>
                <p:spPr>
                  <a:xfrm>
                    <a:off x="3633" y="1244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rgbClr val="0070C0"/>
                        </a:solidFill>
                      </a:rPr>
                      <a:t>/</a:t>
                    </a:r>
                    <a:endParaRPr lang="en-US" sz="4550" b="1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grpSp>
            <p:nvGrpSpPr>
              <p:cNvPr id="100" name="组合 99"/>
              <p:cNvGrpSpPr/>
              <p:nvPr/>
            </p:nvGrpSpPr>
            <p:grpSpPr>
              <a:xfrm rot="0">
                <a:off x="13865" y="60482"/>
                <a:ext cx="11063" cy="9221"/>
                <a:chOff x="26358" y="25111"/>
                <a:chExt cx="10668" cy="12728"/>
              </a:xfrm>
            </p:grpSpPr>
            <p:sp>
              <p:nvSpPr>
                <p:cNvPr id="82" name="文本框 81"/>
                <p:cNvSpPr txBox="1"/>
                <p:nvPr/>
              </p:nvSpPr>
              <p:spPr>
                <a:xfrm>
                  <a:off x="26358" y="25111"/>
                  <a:ext cx="10668" cy="2186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txBody>
                <a:bodyPr wrap="square" rtlCol="0" anchor="ctr" anchorCtr="0">
                  <a:noAutofit/>
                </a:bodyPr>
                <a:p>
                  <a:pPr algn="ctr"/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第二轮</a:t>
                  </a:r>
                  <a:r>
                    <a:rPr lang="en-US" altLang="zh-CN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(0-1</a:t>
                  </a:r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分组</a:t>
                  </a:r>
                  <a:r>
                    <a:rPr lang="en-US" altLang="zh-CN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)</a:t>
                  </a:r>
                  <a:endPara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endParaRPr>
                </a:p>
              </p:txBody>
            </p:sp>
            <p:sp>
              <p:nvSpPr>
                <p:cNvPr id="83" name="矩形 82"/>
                <p:cNvSpPr/>
                <p:nvPr/>
              </p:nvSpPr>
              <p:spPr>
                <a:xfrm>
                  <a:off x="26358" y="27297"/>
                  <a:ext cx="10668" cy="10543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  <a:prstDash val="dash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560"/>
                </a:p>
              </p:txBody>
            </p:sp>
            <p:grpSp>
              <p:nvGrpSpPr>
                <p:cNvPr id="84" name="组合 83"/>
                <p:cNvGrpSpPr/>
                <p:nvPr/>
              </p:nvGrpSpPr>
              <p:grpSpPr>
                <a:xfrm rot="0">
                  <a:off x="27597" y="27974"/>
                  <a:ext cx="8190" cy="4137"/>
                  <a:chOff x="431" y="349"/>
                  <a:chExt cx="3918" cy="1789"/>
                </a:xfrm>
              </p:grpSpPr>
              <p:sp>
                <p:nvSpPr>
                  <p:cNvPr id="85" name="矩形 84"/>
                  <p:cNvSpPr/>
                  <p:nvPr/>
                </p:nvSpPr>
                <p:spPr>
                  <a:xfrm>
                    <a:off x="431" y="349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待定</a:t>
                    </a:r>
                    <a:endParaRPr lang="en-US" altLang="zh-CN" sz="4550" b="1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6" name="矩形 85"/>
                  <p:cNvSpPr/>
                  <p:nvPr/>
                </p:nvSpPr>
                <p:spPr>
                  <a:xfrm>
                    <a:off x="3633" y="349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rgbClr val="0070C0"/>
                        </a:solidFill>
                      </a:rPr>
                      <a:t>/</a:t>
                    </a:r>
                    <a:endParaRPr lang="en-US" sz="4550" b="1">
                      <a:solidFill>
                        <a:srgbClr val="0070C0"/>
                      </a:solidFill>
                    </a:endParaRPr>
                  </a:p>
                </p:txBody>
              </p:sp>
              <p:sp>
                <p:nvSpPr>
                  <p:cNvPr id="87" name="矩形 86"/>
                  <p:cNvSpPr/>
                  <p:nvPr/>
                </p:nvSpPr>
                <p:spPr>
                  <a:xfrm>
                    <a:off x="431" y="1244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待定</a:t>
                    </a:r>
                    <a:endParaRPr lang="en-US" altLang="zh-CN" sz="4550" b="1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8" name="矩形 87"/>
                  <p:cNvSpPr/>
                  <p:nvPr/>
                </p:nvSpPr>
                <p:spPr>
                  <a:xfrm>
                    <a:off x="3633" y="1244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chemeClr val="tx1"/>
                        </a:solidFill>
                      </a:rPr>
                      <a:t>/</a:t>
                    </a:r>
                    <a:endParaRPr lang="en-US" sz="4550" b="1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89" name="组合 88"/>
                <p:cNvGrpSpPr/>
                <p:nvPr/>
              </p:nvGrpSpPr>
              <p:grpSpPr>
                <a:xfrm rot="0">
                  <a:off x="27599" y="32909"/>
                  <a:ext cx="8190" cy="4137"/>
                  <a:chOff x="431" y="349"/>
                  <a:chExt cx="3918" cy="1789"/>
                </a:xfrm>
              </p:grpSpPr>
              <p:sp>
                <p:nvSpPr>
                  <p:cNvPr id="90" name="矩形 89"/>
                  <p:cNvSpPr/>
                  <p:nvPr/>
                </p:nvSpPr>
                <p:spPr>
                  <a:xfrm>
                    <a:off x="431" y="349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待定</a:t>
                    </a:r>
                    <a:endParaRPr lang="en-US" altLang="zh-CN" sz="4550" b="1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1" name="矩形 90"/>
                  <p:cNvSpPr/>
                  <p:nvPr/>
                </p:nvSpPr>
                <p:spPr>
                  <a:xfrm>
                    <a:off x="3633" y="349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rgbClr val="0070C0"/>
                        </a:solidFill>
                      </a:rPr>
                      <a:t>/</a:t>
                    </a:r>
                    <a:endParaRPr lang="en-US" sz="4550" b="1">
                      <a:solidFill>
                        <a:srgbClr val="0070C0"/>
                      </a:solidFill>
                    </a:endParaRPr>
                  </a:p>
                </p:txBody>
              </p:sp>
              <p:sp>
                <p:nvSpPr>
                  <p:cNvPr id="92" name="矩形 91"/>
                  <p:cNvSpPr/>
                  <p:nvPr/>
                </p:nvSpPr>
                <p:spPr>
                  <a:xfrm>
                    <a:off x="431" y="1244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待定</a:t>
                    </a:r>
                    <a:endParaRPr lang="en-US" altLang="zh-CN" sz="4550" b="1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3" name="矩形 92"/>
                  <p:cNvSpPr/>
                  <p:nvPr/>
                </p:nvSpPr>
                <p:spPr>
                  <a:xfrm>
                    <a:off x="3633" y="1244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rgbClr val="0070C0"/>
                        </a:solidFill>
                      </a:rPr>
                      <a:t>/</a:t>
                    </a:r>
                    <a:endParaRPr lang="en-US" sz="4550" b="1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grpSp>
            <p:nvGrpSpPr>
              <p:cNvPr id="122" name="组合 121"/>
              <p:cNvGrpSpPr/>
              <p:nvPr/>
            </p:nvGrpSpPr>
            <p:grpSpPr>
              <a:xfrm rot="0">
                <a:off x="26141" y="49293"/>
                <a:ext cx="11063" cy="5829"/>
                <a:chOff x="37786" y="4819"/>
                <a:chExt cx="10668" cy="8046"/>
              </a:xfrm>
            </p:grpSpPr>
            <p:sp>
              <p:nvSpPr>
                <p:cNvPr id="103" name="文本框 102"/>
                <p:cNvSpPr txBox="1"/>
                <p:nvPr/>
              </p:nvSpPr>
              <p:spPr>
                <a:xfrm>
                  <a:off x="37786" y="4819"/>
                  <a:ext cx="10668" cy="2186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txBody>
                <a:bodyPr wrap="square" rtlCol="0" anchor="ctr" anchorCtr="0">
                  <a:noAutofit/>
                </a:bodyPr>
                <a:p>
                  <a:pPr algn="ctr"/>
                  <a:r>
                    <a:rPr lang="en-US" altLang="zh-CN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2-0</a:t>
                  </a:r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晋级队伍</a:t>
                  </a:r>
                  <a:endPara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endParaRPr>
                </a:p>
              </p:txBody>
            </p:sp>
            <p:sp>
              <p:nvSpPr>
                <p:cNvPr id="104" name="矩形 103"/>
                <p:cNvSpPr/>
                <p:nvPr/>
              </p:nvSpPr>
              <p:spPr>
                <a:xfrm>
                  <a:off x="37786" y="7005"/>
                  <a:ext cx="10668" cy="5861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  <a:prstDash val="dash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560"/>
                </a:p>
              </p:txBody>
            </p:sp>
            <p:grpSp>
              <p:nvGrpSpPr>
                <p:cNvPr id="105" name="组合 104"/>
                <p:cNvGrpSpPr/>
                <p:nvPr/>
              </p:nvGrpSpPr>
              <p:grpSpPr>
                <a:xfrm rot="0">
                  <a:off x="38774" y="7682"/>
                  <a:ext cx="8692" cy="4139"/>
                  <a:chOff x="431" y="349"/>
                  <a:chExt cx="3202" cy="1790"/>
                </a:xfrm>
              </p:grpSpPr>
              <p:sp>
                <p:nvSpPr>
                  <p:cNvPr id="106" name="矩形 105"/>
                  <p:cNvSpPr/>
                  <p:nvPr/>
                </p:nvSpPr>
                <p:spPr>
                  <a:xfrm>
                    <a:off x="431" y="349"/>
                    <a:ext cx="3202" cy="895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待定</a:t>
                    </a:r>
                    <a:endParaRPr lang="en-US" altLang="zh-CN" sz="4550" b="1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8" name="矩形 107"/>
                  <p:cNvSpPr/>
                  <p:nvPr/>
                </p:nvSpPr>
                <p:spPr>
                  <a:xfrm>
                    <a:off x="431" y="1244"/>
                    <a:ext cx="3202" cy="895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待定</a:t>
                    </a:r>
                    <a:endParaRPr lang="en-US" altLang="zh-CN" sz="4550" b="1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grpSp>
            <p:nvGrpSpPr>
              <p:cNvPr id="123" name="组合 122"/>
              <p:cNvGrpSpPr/>
              <p:nvPr/>
            </p:nvGrpSpPr>
            <p:grpSpPr>
              <a:xfrm rot="0">
                <a:off x="26141" y="65093"/>
                <a:ext cx="11063" cy="5829"/>
                <a:chOff x="37786" y="31302"/>
                <a:chExt cx="10668" cy="8046"/>
              </a:xfrm>
            </p:grpSpPr>
            <p:sp>
              <p:nvSpPr>
                <p:cNvPr id="117" name="文本框 116"/>
                <p:cNvSpPr txBox="1"/>
                <p:nvPr/>
              </p:nvSpPr>
              <p:spPr>
                <a:xfrm>
                  <a:off x="37786" y="31302"/>
                  <a:ext cx="10668" cy="2186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txBody>
                <a:bodyPr wrap="square" rtlCol="0" anchor="ctr" anchorCtr="0">
                  <a:noAutofit/>
                </a:bodyPr>
                <a:p>
                  <a:pPr algn="ctr"/>
                  <a:r>
                    <a:rPr lang="en-US" altLang="zh-CN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0-2</a:t>
                  </a:r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淘汰队伍</a:t>
                  </a:r>
                  <a:endPara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endParaRPr>
                </a:p>
              </p:txBody>
            </p:sp>
            <p:sp>
              <p:nvSpPr>
                <p:cNvPr id="118" name="矩形 117"/>
                <p:cNvSpPr/>
                <p:nvPr/>
              </p:nvSpPr>
              <p:spPr>
                <a:xfrm>
                  <a:off x="37786" y="33488"/>
                  <a:ext cx="10668" cy="5861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  <a:prstDash val="dash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560"/>
                </a:p>
              </p:txBody>
            </p:sp>
            <p:grpSp>
              <p:nvGrpSpPr>
                <p:cNvPr id="119" name="组合 118"/>
                <p:cNvGrpSpPr/>
                <p:nvPr/>
              </p:nvGrpSpPr>
              <p:grpSpPr>
                <a:xfrm rot="0">
                  <a:off x="38774" y="34165"/>
                  <a:ext cx="8692" cy="4139"/>
                  <a:chOff x="431" y="349"/>
                  <a:chExt cx="3202" cy="1790"/>
                </a:xfrm>
              </p:grpSpPr>
              <p:sp>
                <p:nvSpPr>
                  <p:cNvPr id="120" name="矩形 119"/>
                  <p:cNvSpPr/>
                  <p:nvPr/>
                </p:nvSpPr>
                <p:spPr>
                  <a:xfrm>
                    <a:off x="431" y="349"/>
                    <a:ext cx="3202" cy="895"/>
                  </a:xfrm>
                  <a:prstGeom prst="rect">
                    <a:avLst/>
                  </a:prstGeom>
                  <a:solidFill>
                    <a:schemeClr val="bg1">
                      <a:lumMod val="75000"/>
                    </a:schemeClr>
                  </a:solidFill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待定</a:t>
                    </a:r>
                    <a:endParaRPr lang="en-US" altLang="zh-CN" sz="4550" b="1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21" name="矩形 120"/>
                  <p:cNvSpPr/>
                  <p:nvPr/>
                </p:nvSpPr>
                <p:spPr>
                  <a:xfrm>
                    <a:off x="431" y="1244"/>
                    <a:ext cx="3202" cy="895"/>
                  </a:xfrm>
                  <a:prstGeom prst="rect">
                    <a:avLst/>
                  </a:prstGeom>
                  <a:solidFill>
                    <a:schemeClr val="bg1">
                      <a:lumMod val="75000"/>
                    </a:schemeClr>
                  </a:solidFill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待定</a:t>
                    </a:r>
                    <a:endParaRPr lang="en-US" altLang="zh-CN" sz="4550" b="1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grpSp>
            <p:nvGrpSpPr>
              <p:cNvPr id="124" name="组合 123"/>
              <p:cNvGrpSpPr/>
              <p:nvPr/>
            </p:nvGrpSpPr>
            <p:grpSpPr>
              <a:xfrm rot="0">
                <a:off x="26141" y="55409"/>
                <a:ext cx="11063" cy="9221"/>
                <a:chOff x="26358" y="25111"/>
                <a:chExt cx="10668" cy="12728"/>
              </a:xfrm>
            </p:grpSpPr>
            <p:sp>
              <p:nvSpPr>
                <p:cNvPr id="125" name="文本框 124"/>
                <p:cNvSpPr txBox="1"/>
                <p:nvPr/>
              </p:nvSpPr>
              <p:spPr>
                <a:xfrm>
                  <a:off x="26358" y="25111"/>
                  <a:ext cx="10668" cy="2186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txBody>
                <a:bodyPr wrap="square" rtlCol="0" anchor="ctr" anchorCtr="0">
                  <a:noAutofit/>
                </a:bodyPr>
                <a:p>
                  <a:pPr algn="ctr"/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第</a:t>
                  </a:r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三轮</a:t>
                  </a:r>
                  <a:r>
                    <a:rPr lang="en-US" altLang="zh-CN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(1-1</a:t>
                  </a:r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分组</a:t>
                  </a:r>
                  <a:r>
                    <a:rPr lang="en-US" altLang="zh-CN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)</a:t>
                  </a:r>
                  <a:endPara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endParaRPr>
                </a:p>
              </p:txBody>
            </p:sp>
            <p:sp>
              <p:nvSpPr>
                <p:cNvPr id="126" name="矩形 125"/>
                <p:cNvSpPr/>
                <p:nvPr/>
              </p:nvSpPr>
              <p:spPr>
                <a:xfrm>
                  <a:off x="26358" y="27297"/>
                  <a:ext cx="10668" cy="10543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  <a:prstDash val="dash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560"/>
                </a:p>
              </p:txBody>
            </p:sp>
            <p:grpSp>
              <p:nvGrpSpPr>
                <p:cNvPr id="127" name="组合 126"/>
                <p:cNvGrpSpPr/>
                <p:nvPr/>
              </p:nvGrpSpPr>
              <p:grpSpPr>
                <a:xfrm rot="0">
                  <a:off x="27597" y="27974"/>
                  <a:ext cx="8190" cy="4137"/>
                  <a:chOff x="431" y="349"/>
                  <a:chExt cx="3918" cy="1789"/>
                </a:xfrm>
              </p:grpSpPr>
              <p:sp>
                <p:nvSpPr>
                  <p:cNvPr id="128" name="矩形 127"/>
                  <p:cNvSpPr/>
                  <p:nvPr/>
                </p:nvSpPr>
                <p:spPr>
                  <a:xfrm>
                    <a:off x="431" y="349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待定</a:t>
                    </a:r>
                    <a:endParaRPr lang="en-US" altLang="zh-CN" sz="4550" b="1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29" name="矩形 128"/>
                  <p:cNvSpPr/>
                  <p:nvPr/>
                </p:nvSpPr>
                <p:spPr>
                  <a:xfrm>
                    <a:off x="3633" y="349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rgbClr val="0070C0"/>
                        </a:solidFill>
                      </a:rPr>
                      <a:t>/</a:t>
                    </a:r>
                    <a:endParaRPr lang="en-US" sz="4550" b="1">
                      <a:solidFill>
                        <a:srgbClr val="0070C0"/>
                      </a:solidFill>
                    </a:endParaRPr>
                  </a:p>
                </p:txBody>
              </p:sp>
              <p:sp>
                <p:nvSpPr>
                  <p:cNvPr id="130" name="矩形 129"/>
                  <p:cNvSpPr/>
                  <p:nvPr/>
                </p:nvSpPr>
                <p:spPr>
                  <a:xfrm>
                    <a:off x="431" y="1244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待定</a:t>
                    </a:r>
                    <a:endParaRPr lang="en-US" altLang="zh-CN" sz="4550" b="1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31" name="矩形 130"/>
                  <p:cNvSpPr/>
                  <p:nvPr/>
                </p:nvSpPr>
                <p:spPr>
                  <a:xfrm>
                    <a:off x="3633" y="1244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rgbClr val="0070C0"/>
                        </a:solidFill>
                      </a:rPr>
                      <a:t>/</a:t>
                    </a:r>
                    <a:endParaRPr lang="en-US" sz="4550" b="1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132" name="组合 131"/>
                <p:cNvGrpSpPr/>
                <p:nvPr/>
              </p:nvGrpSpPr>
              <p:grpSpPr>
                <a:xfrm rot="0">
                  <a:off x="27599" y="32909"/>
                  <a:ext cx="8190" cy="4137"/>
                  <a:chOff x="431" y="349"/>
                  <a:chExt cx="3918" cy="1789"/>
                </a:xfrm>
              </p:grpSpPr>
              <p:sp>
                <p:nvSpPr>
                  <p:cNvPr id="133" name="矩形 132"/>
                  <p:cNvSpPr/>
                  <p:nvPr/>
                </p:nvSpPr>
                <p:spPr>
                  <a:xfrm>
                    <a:off x="431" y="349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待定</a:t>
                    </a:r>
                    <a:endParaRPr lang="en-US" altLang="zh-CN" sz="4550" b="1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34" name="矩形 133"/>
                  <p:cNvSpPr/>
                  <p:nvPr/>
                </p:nvSpPr>
                <p:spPr>
                  <a:xfrm>
                    <a:off x="3633" y="349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rgbClr val="0070C0"/>
                        </a:solidFill>
                      </a:rPr>
                      <a:t>/</a:t>
                    </a:r>
                    <a:endParaRPr lang="en-US" sz="4550" b="1">
                      <a:solidFill>
                        <a:srgbClr val="0070C0"/>
                      </a:solidFill>
                    </a:endParaRPr>
                  </a:p>
                </p:txBody>
              </p:sp>
              <p:sp>
                <p:nvSpPr>
                  <p:cNvPr id="135" name="矩形 134"/>
                  <p:cNvSpPr/>
                  <p:nvPr/>
                </p:nvSpPr>
                <p:spPr>
                  <a:xfrm>
                    <a:off x="431" y="1244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待定</a:t>
                    </a:r>
                    <a:endParaRPr lang="en-US" altLang="zh-CN" sz="4550" b="1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36" name="矩形 135"/>
                  <p:cNvSpPr/>
                  <p:nvPr/>
                </p:nvSpPr>
                <p:spPr>
                  <a:xfrm>
                    <a:off x="3633" y="1244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rgbClr val="0070C0"/>
                        </a:solidFill>
                      </a:rPr>
                      <a:t>/</a:t>
                    </a:r>
                    <a:endParaRPr lang="en-US" sz="4550" b="1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grpSp>
            <p:nvGrpSpPr>
              <p:cNvPr id="137" name="组合 136"/>
              <p:cNvGrpSpPr/>
              <p:nvPr/>
            </p:nvGrpSpPr>
            <p:grpSpPr>
              <a:xfrm rot="0">
                <a:off x="37922" y="57283"/>
                <a:ext cx="11063" cy="5829"/>
                <a:chOff x="37786" y="4819"/>
                <a:chExt cx="10668" cy="8046"/>
              </a:xfrm>
            </p:grpSpPr>
            <p:sp>
              <p:nvSpPr>
                <p:cNvPr id="138" name="文本框 137"/>
                <p:cNvSpPr txBox="1"/>
                <p:nvPr/>
              </p:nvSpPr>
              <p:spPr>
                <a:xfrm>
                  <a:off x="37786" y="4819"/>
                  <a:ext cx="10668" cy="2186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txBody>
                <a:bodyPr wrap="square" rtlCol="0" anchor="ctr" anchorCtr="0">
                  <a:noAutofit/>
                </a:bodyPr>
                <a:p>
                  <a:pPr algn="ctr"/>
                  <a:r>
                    <a:rPr lang="en-US" altLang="zh-CN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2-1</a:t>
                  </a:r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晋级队伍</a:t>
                  </a:r>
                  <a:endPara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endParaRPr>
                </a:p>
              </p:txBody>
            </p:sp>
            <p:sp>
              <p:nvSpPr>
                <p:cNvPr id="139" name="矩形 138"/>
                <p:cNvSpPr/>
                <p:nvPr/>
              </p:nvSpPr>
              <p:spPr>
                <a:xfrm>
                  <a:off x="37786" y="7005"/>
                  <a:ext cx="10668" cy="5861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  <a:prstDash val="dash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560"/>
                </a:p>
              </p:txBody>
            </p:sp>
            <p:grpSp>
              <p:nvGrpSpPr>
                <p:cNvPr id="140" name="组合 139"/>
                <p:cNvGrpSpPr/>
                <p:nvPr/>
              </p:nvGrpSpPr>
              <p:grpSpPr>
                <a:xfrm rot="0">
                  <a:off x="38774" y="7682"/>
                  <a:ext cx="8692" cy="4139"/>
                  <a:chOff x="431" y="349"/>
                  <a:chExt cx="3202" cy="1790"/>
                </a:xfrm>
              </p:grpSpPr>
              <p:sp>
                <p:nvSpPr>
                  <p:cNvPr id="141" name="矩形 140"/>
                  <p:cNvSpPr/>
                  <p:nvPr/>
                </p:nvSpPr>
                <p:spPr>
                  <a:xfrm>
                    <a:off x="431" y="349"/>
                    <a:ext cx="3202" cy="895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待定</a:t>
                    </a:r>
                    <a:endParaRPr lang="en-US" altLang="zh-CN" sz="4550" b="1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42" name="矩形 141"/>
                  <p:cNvSpPr/>
                  <p:nvPr/>
                </p:nvSpPr>
                <p:spPr>
                  <a:xfrm>
                    <a:off x="431" y="1244"/>
                    <a:ext cx="3202" cy="895"/>
                  </a:xfrm>
                  <a:prstGeom prst="rect">
                    <a:avLst/>
                  </a:prstGeom>
                  <a:solidFill>
                    <a:schemeClr val="accent3">
                      <a:lumMod val="40000"/>
                      <a:lumOff val="60000"/>
                    </a:schemeClr>
                  </a:solidFill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待定</a:t>
                    </a:r>
                    <a:endParaRPr lang="en-US" altLang="zh-CN" sz="4550" b="1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</p:grpSp>
        <p:grpSp>
          <p:nvGrpSpPr>
            <p:cNvPr id="143" name="组合 142"/>
            <p:cNvGrpSpPr/>
            <p:nvPr/>
          </p:nvGrpSpPr>
          <p:grpSpPr>
            <a:xfrm rot="0">
              <a:off x="50142" y="47266"/>
              <a:ext cx="27918" cy="31261"/>
              <a:chOff x="14110" y="1022"/>
              <a:chExt cx="41334" cy="43538"/>
            </a:xfrm>
          </p:grpSpPr>
          <p:sp>
            <p:nvSpPr>
              <p:cNvPr id="144" name="矩形 143"/>
              <p:cNvSpPr/>
              <p:nvPr/>
            </p:nvSpPr>
            <p:spPr>
              <a:xfrm>
                <a:off x="14110" y="3899"/>
                <a:ext cx="41334" cy="4066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sp>
            <p:nvSpPr>
              <p:cNvPr id="145" name="文本框 144"/>
              <p:cNvSpPr txBox="1"/>
              <p:nvPr/>
            </p:nvSpPr>
            <p:spPr>
              <a:xfrm>
                <a:off x="14110" y="1022"/>
                <a:ext cx="41334" cy="2877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algn="ctr"/>
                <a:r>
                  <a:rPr lang="en-US" sz="720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4</a:t>
                </a:r>
                <a:r>
                  <a:rPr lang="zh-CN" altLang="en-US" sz="720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强淘汰赛</a:t>
                </a:r>
                <a:endPara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</p:grpSp>
        <p:grpSp>
          <p:nvGrpSpPr>
            <p:cNvPr id="96" name="组合 95"/>
            <p:cNvGrpSpPr/>
            <p:nvPr/>
          </p:nvGrpSpPr>
          <p:grpSpPr>
            <a:xfrm>
              <a:off x="51533" y="53258"/>
              <a:ext cx="25421" cy="21146"/>
              <a:chOff x="51531" y="53952"/>
              <a:chExt cx="25421" cy="11718"/>
            </a:xfrm>
          </p:grpSpPr>
          <p:sp>
            <p:nvSpPr>
              <p:cNvPr id="148" name="文本框 147"/>
              <p:cNvSpPr txBox="1"/>
              <p:nvPr/>
            </p:nvSpPr>
            <p:spPr>
              <a:xfrm>
                <a:off x="51531" y="53952"/>
                <a:ext cx="11063" cy="1584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algn="ctr"/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第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一轮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(1-0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分组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)</a:t>
                </a:r>
                <a:endPara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  <p:sp>
            <p:nvSpPr>
              <p:cNvPr id="149" name="矩形 148"/>
              <p:cNvSpPr/>
              <p:nvPr/>
            </p:nvSpPr>
            <p:spPr>
              <a:xfrm>
                <a:off x="51531" y="55536"/>
                <a:ext cx="11063" cy="398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grpSp>
            <p:nvGrpSpPr>
              <p:cNvPr id="150" name="组合 149"/>
              <p:cNvGrpSpPr/>
              <p:nvPr/>
            </p:nvGrpSpPr>
            <p:grpSpPr>
              <a:xfrm rot="0">
                <a:off x="52816" y="56027"/>
                <a:ext cx="8494" cy="2997"/>
                <a:chOff x="431" y="349"/>
                <a:chExt cx="3918" cy="1789"/>
              </a:xfrm>
            </p:grpSpPr>
            <p:sp>
              <p:nvSpPr>
                <p:cNvPr id="151" name="矩形 150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  <a:sym typeface="+mn-ea"/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52" name="矩形 151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  <p:sp>
              <p:nvSpPr>
                <p:cNvPr id="153" name="矩形 152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  <a:sym typeface="+mn-ea"/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54" name="矩形 153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170" name="组合 169"/>
              <p:cNvGrpSpPr/>
              <p:nvPr/>
            </p:nvGrpSpPr>
            <p:grpSpPr>
              <a:xfrm rot="0">
                <a:off x="51531" y="60098"/>
                <a:ext cx="11062" cy="5572"/>
                <a:chOff x="53765" y="17173"/>
                <a:chExt cx="9664" cy="5572"/>
              </a:xfrm>
            </p:grpSpPr>
            <p:sp>
              <p:nvSpPr>
                <p:cNvPr id="160" name="文本框 159"/>
                <p:cNvSpPr txBox="1"/>
                <p:nvPr/>
              </p:nvSpPr>
              <p:spPr>
                <a:xfrm>
                  <a:off x="53765" y="17173"/>
                  <a:ext cx="9665" cy="1584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txBody>
                <a:bodyPr wrap="square" rtlCol="0" anchor="ctr" anchorCtr="0">
                  <a:noAutofit/>
                </a:bodyPr>
                <a:p>
                  <a:pPr algn="ctr"/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第</a:t>
                  </a:r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一轮</a:t>
                  </a:r>
                  <a:r>
                    <a:rPr lang="en-US" altLang="zh-CN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(0-1</a:t>
                  </a:r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分组</a:t>
                  </a:r>
                  <a:r>
                    <a:rPr lang="en-US" altLang="zh-CN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)</a:t>
                  </a:r>
                  <a:endPara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endParaRPr>
                </a:p>
              </p:txBody>
            </p:sp>
            <p:sp>
              <p:nvSpPr>
                <p:cNvPr id="161" name="矩形 160"/>
                <p:cNvSpPr/>
                <p:nvPr/>
              </p:nvSpPr>
              <p:spPr>
                <a:xfrm>
                  <a:off x="53765" y="18757"/>
                  <a:ext cx="9665" cy="3988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  <a:prstDash val="dash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560"/>
                </a:p>
              </p:txBody>
            </p:sp>
            <p:grpSp>
              <p:nvGrpSpPr>
                <p:cNvPr id="162" name="组合 161"/>
                <p:cNvGrpSpPr/>
                <p:nvPr/>
              </p:nvGrpSpPr>
              <p:grpSpPr>
                <a:xfrm rot="0">
                  <a:off x="54888" y="19247"/>
                  <a:ext cx="7420" cy="2997"/>
                  <a:chOff x="431" y="349"/>
                  <a:chExt cx="3918" cy="1789"/>
                </a:xfrm>
              </p:grpSpPr>
              <p:sp>
                <p:nvSpPr>
                  <p:cNvPr id="163" name="矩形 162"/>
                  <p:cNvSpPr/>
                  <p:nvPr/>
                </p:nvSpPr>
                <p:spPr>
                  <a:xfrm>
                    <a:off x="431" y="349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待定</a:t>
                    </a:r>
                    <a:endParaRPr lang="en-US" altLang="zh-CN" sz="4550" b="1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64" name="矩形 163"/>
                  <p:cNvSpPr/>
                  <p:nvPr/>
                </p:nvSpPr>
                <p:spPr>
                  <a:xfrm>
                    <a:off x="3633" y="349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rgbClr val="0070C0"/>
                        </a:solidFill>
                      </a:rPr>
                      <a:t>/</a:t>
                    </a:r>
                    <a:endParaRPr lang="en-US" sz="4550" b="1">
                      <a:solidFill>
                        <a:srgbClr val="0070C0"/>
                      </a:solidFill>
                    </a:endParaRPr>
                  </a:p>
                </p:txBody>
              </p:sp>
              <p:sp>
                <p:nvSpPr>
                  <p:cNvPr id="165" name="矩形 164"/>
                  <p:cNvSpPr/>
                  <p:nvPr/>
                </p:nvSpPr>
                <p:spPr>
                  <a:xfrm>
                    <a:off x="431" y="1244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待定</a:t>
                    </a:r>
                    <a:r>
                      <a:rPr lang="en-US" altLang="zh-CN" sz="4550" b="1">
                        <a:solidFill>
                          <a:schemeClr val="tx1"/>
                        </a:solidFill>
                      </a:rPr>
                      <a:t>(</a:t>
                    </a:r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殿军</a:t>
                    </a:r>
                    <a:r>
                      <a:rPr lang="en-US" altLang="zh-CN" sz="4550" b="1">
                        <a:solidFill>
                          <a:schemeClr val="tx1"/>
                        </a:solidFill>
                      </a:rPr>
                      <a:t>)</a:t>
                    </a:r>
                    <a:endParaRPr lang="zh-CN" altLang="en-US" sz="4550" b="1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66" name="矩形 165"/>
                  <p:cNvSpPr/>
                  <p:nvPr/>
                </p:nvSpPr>
                <p:spPr>
                  <a:xfrm>
                    <a:off x="3633" y="1244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chemeClr val="tx1"/>
                        </a:solidFill>
                      </a:rPr>
                      <a:t>/</a:t>
                    </a:r>
                    <a:endParaRPr lang="en-US" sz="4550" b="1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grpSp>
            <p:nvGrpSpPr>
              <p:cNvPr id="171" name="组合 170"/>
              <p:cNvGrpSpPr/>
              <p:nvPr/>
            </p:nvGrpSpPr>
            <p:grpSpPr>
              <a:xfrm rot="0">
                <a:off x="63828" y="60098"/>
                <a:ext cx="13125" cy="5572"/>
                <a:chOff x="53765" y="17173"/>
                <a:chExt cx="9664" cy="5572"/>
              </a:xfrm>
            </p:grpSpPr>
            <p:sp>
              <p:nvSpPr>
                <p:cNvPr id="172" name="文本框 171"/>
                <p:cNvSpPr txBox="1"/>
                <p:nvPr/>
              </p:nvSpPr>
              <p:spPr>
                <a:xfrm>
                  <a:off x="53765" y="17173"/>
                  <a:ext cx="9665" cy="1584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txBody>
                <a:bodyPr wrap="square" rtlCol="0" anchor="ctr" anchorCtr="0">
                  <a:noAutofit/>
                </a:bodyPr>
                <a:p>
                  <a:pPr algn="ctr"/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第</a:t>
                  </a:r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二轮</a:t>
                  </a:r>
                  <a:r>
                    <a:rPr lang="en-US" altLang="zh-CN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(1-1</a:t>
                  </a:r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分组</a:t>
                  </a:r>
                  <a:r>
                    <a:rPr lang="en-US" altLang="zh-CN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)</a:t>
                  </a:r>
                  <a:endPara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endParaRPr>
                </a:p>
              </p:txBody>
            </p:sp>
            <p:sp>
              <p:nvSpPr>
                <p:cNvPr id="173" name="矩形 172"/>
                <p:cNvSpPr/>
                <p:nvPr/>
              </p:nvSpPr>
              <p:spPr>
                <a:xfrm>
                  <a:off x="53765" y="18757"/>
                  <a:ext cx="9665" cy="3988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>
                  <a:solidFill>
                    <a:schemeClr val="tx1"/>
                  </a:solidFill>
                  <a:prstDash val="dash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560"/>
                </a:p>
              </p:txBody>
            </p:sp>
            <p:grpSp>
              <p:nvGrpSpPr>
                <p:cNvPr id="174" name="组合 173"/>
                <p:cNvGrpSpPr/>
                <p:nvPr/>
              </p:nvGrpSpPr>
              <p:grpSpPr>
                <a:xfrm rot="0">
                  <a:off x="54888" y="19247"/>
                  <a:ext cx="7420" cy="2997"/>
                  <a:chOff x="431" y="349"/>
                  <a:chExt cx="3918" cy="1789"/>
                </a:xfrm>
              </p:grpSpPr>
              <p:sp>
                <p:nvSpPr>
                  <p:cNvPr id="175" name="矩形 174"/>
                  <p:cNvSpPr/>
                  <p:nvPr/>
                </p:nvSpPr>
                <p:spPr>
                  <a:xfrm>
                    <a:off x="431" y="349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待定</a:t>
                    </a:r>
                    <a:endParaRPr lang="zh-CN" altLang="en-US" sz="4550" b="1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76" name="矩形 175"/>
                  <p:cNvSpPr/>
                  <p:nvPr/>
                </p:nvSpPr>
                <p:spPr>
                  <a:xfrm>
                    <a:off x="3633" y="349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rgbClr val="0070C0"/>
                        </a:solidFill>
                      </a:rPr>
                      <a:t>/</a:t>
                    </a:r>
                    <a:endParaRPr lang="en-US" sz="4550" b="1">
                      <a:solidFill>
                        <a:srgbClr val="0070C0"/>
                      </a:solidFill>
                    </a:endParaRPr>
                  </a:p>
                </p:txBody>
              </p:sp>
              <p:sp>
                <p:nvSpPr>
                  <p:cNvPr id="177" name="矩形 176"/>
                  <p:cNvSpPr/>
                  <p:nvPr/>
                </p:nvSpPr>
                <p:spPr>
                  <a:xfrm>
                    <a:off x="431" y="1244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  <a:sym typeface="+mn-ea"/>
                      </a:rPr>
                      <a:t>待定</a:t>
                    </a:r>
                    <a:r>
                      <a:rPr lang="en-US" altLang="zh-CN" sz="4550" b="1">
                        <a:solidFill>
                          <a:schemeClr val="tx1"/>
                        </a:solidFill>
                      </a:rPr>
                      <a:t>(</a:t>
                    </a:r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季军</a:t>
                    </a:r>
                    <a:r>
                      <a:rPr lang="en-US" altLang="zh-CN" sz="4550" b="1">
                        <a:solidFill>
                          <a:schemeClr val="tx1"/>
                        </a:solidFill>
                      </a:rPr>
                      <a:t>)</a:t>
                    </a:r>
                    <a:r>
                      <a:rPr lang="zh-CN" altLang="en-US" sz="4550" b="1">
                        <a:solidFill>
                          <a:schemeClr val="accent1"/>
                        </a:solidFill>
                      </a:rPr>
                      <a:t>🥉</a:t>
                    </a:r>
                    <a:endParaRPr lang="zh-CN" altLang="en-US" sz="4550" b="1">
                      <a:solidFill>
                        <a:schemeClr val="accent1"/>
                      </a:solidFill>
                    </a:endParaRPr>
                  </a:p>
                </p:txBody>
              </p:sp>
              <p:sp>
                <p:nvSpPr>
                  <p:cNvPr id="178" name="矩形 177"/>
                  <p:cNvSpPr/>
                  <p:nvPr/>
                </p:nvSpPr>
                <p:spPr>
                  <a:xfrm>
                    <a:off x="3633" y="1244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rgbClr val="0070C0"/>
                        </a:solidFill>
                      </a:rPr>
                      <a:t>/</a:t>
                    </a:r>
                    <a:endParaRPr lang="en-US" sz="4550" b="1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grpSp>
            <p:nvGrpSpPr>
              <p:cNvPr id="189" name="组合 188"/>
              <p:cNvGrpSpPr/>
              <p:nvPr/>
            </p:nvGrpSpPr>
            <p:grpSpPr>
              <a:xfrm rot="0">
                <a:off x="63829" y="53952"/>
                <a:ext cx="13122" cy="5572"/>
                <a:chOff x="53765" y="17173"/>
                <a:chExt cx="9664" cy="5572"/>
              </a:xfrm>
            </p:grpSpPr>
            <p:sp>
              <p:nvSpPr>
                <p:cNvPr id="190" name="文本框 189"/>
                <p:cNvSpPr txBox="1"/>
                <p:nvPr/>
              </p:nvSpPr>
              <p:spPr>
                <a:xfrm>
                  <a:off x="53765" y="17173"/>
                  <a:ext cx="9665" cy="1584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txBody>
                <a:bodyPr wrap="square" rtlCol="0" anchor="ctr" anchorCtr="0">
                  <a:noAutofit/>
                </a:bodyPr>
                <a:p>
                  <a:pPr algn="ctr"/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总决赛</a:t>
                  </a:r>
                  <a:endPara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endParaRPr>
                </a:p>
              </p:txBody>
            </p:sp>
            <p:sp>
              <p:nvSpPr>
                <p:cNvPr id="191" name="矩形 190"/>
                <p:cNvSpPr/>
                <p:nvPr/>
              </p:nvSpPr>
              <p:spPr>
                <a:xfrm>
                  <a:off x="53765" y="18757"/>
                  <a:ext cx="9665" cy="3988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>
                  <a:solidFill>
                    <a:schemeClr val="tx1"/>
                  </a:solidFill>
                  <a:prstDash val="dash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560"/>
                </a:p>
              </p:txBody>
            </p:sp>
            <p:grpSp>
              <p:nvGrpSpPr>
                <p:cNvPr id="192" name="组合 191"/>
                <p:cNvGrpSpPr/>
                <p:nvPr/>
              </p:nvGrpSpPr>
              <p:grpSpPr>
                <a:xfrm rot="0">
                  <a:off x="54888" y="19247"/>
                  <a:ext cx="7420" cy="2997"/>
                  <a:chOff x="431" y="349"/>
                  <a:chExt cx="3918" cy="1789"/>
                </a:xfrm>
              </p:grpSpPr>
              <p:sp>
                <p:nvSpPr>
                  <p:cNvPr id="193" name="矩形 192"/>
                  <p:cNvSpPr/>
                  <p:nvPr/>
                </p:nvSpPr>
                <p:spPr>
                  <a:xfrm>
                    <a:off x="431" y="349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  <a:sym typeface="+mn-ea"/>
                      </a:rPr>
                      <a:t>待定</a:t>
                    </a:r>
                    <a:r>
                      <a:rPr lang="en-US" altLang="zh-CN" sz="4550" b="1">
                        <a:solidFill>
                          <a:schemeClr val="tx1"/>
                        </a:solidFill>
                      </a:rPr>
                      <a:t>(</a:t>
                    </a:r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冠军</a:t>
                    </a:r>
                    <a:r>
                      <a:rPr lang="en-US" altLang="zh-CN" sz="4550" b="1">
                        <a:solidFill>
                          <a:schemeClr val="tx1"/>
                        </a:solidFill>
                      </a:rPr>
                      <a:t>)</a:t>
                    </a:r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🏆</a:t>
                    </a:r>
                    <a:endParaRPr lang="zh-CN" altLang="en-US" sz="4550" b="1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94" name="矩形 193"/>
                  <p:cNvSpPr/>
                  <p:nvPr/>
                </p:nvSpPr>
                <p:spPr>
                  <a:xfrm>
                    <a:off x="3633" y="349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rgbClr val="0070C0"/>
                        </a:solidFill>
                      </a:rPr>
                      <a:t>/</a:t>
                    </a:r>
                    <a:endParaRPr lang="en-US" sz="4550" b="1">
                      <a:solidFill>
                        <a:srgbClr val="0070C0"/>
                      </a:solidFill>
                    </a:endParaRPr>
                  </a:p>
                </p:txBody>
              </p:sp>
              <p:sp>
                <p:nvSpPr>
                  <p:cNvPr id="195" name="矩形 194"/>
                  <p:cNvSpPr/>
                  <p:nvPr/>
                </p:nvSpPr>
                <p:spPr>
                  <a:xfrm>
                    <a:off x="431" y="1244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  <a:sym typeface="+mn-ea"/>
                      </a:rPr>
                      <a:t>待定</a:t>
                    </a:r>
                    <a:r>
                      <a:rPr lang="en-US" altLang="zh-CN" sz="4550" b="1">
                        <a:solidFill>
                          <a:schemeClr val="tx1"/>
                        </a:solidFill>
                      </a:rPr>
                      <a:t>(</a:t>
                    </a:r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亚军</a:t>
                    </a:r>
                    <a:r>
                      <a:rPr lang="en-US" altLang="zh-CN" sz="4550" b="1">
                        <a:solidFill>
                          <a:schemeClr val="tx1"/>
                        </a:solidFill>
                      </a:rPr>
                      <a:t>)</a:t>
                    </a:r>
                    <a:r>
                      <a:rPr lang="zh-CN" altLang="en-US" sz="4550" b="1">
                        <a:solidFill>
                          <a:schemeClr val="accent1"/>
                        </a:solidFill>
                      </a:rPr>
                      <a:t>🥈</a:t>
                    </a:r>
                    <a:endParaRPr lang="zh-CN" altLang="en-US" sz="4550" b="1">
                      <a:solidFill>
                        <a:schemeClr val="accent1"/>
                      </a:solidFill>
                    </a:endParaRPr>
                  </a:p>
                </p:txBody>
              </p:sp>
              <p:sp>
                <p:nvSpPr>
                  <p:cNvPr id="196" name="矩形 195"/>
                  <p:cNvSpPr/>
                  <p:nvPr/>
                </p:nvSpPr>
                <p:spPr>
                  <a:xfrm>
                    <a:off x="3633" y="1244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rgbClr val="0070C0"/>
                        </a:solidFill>
                      </a:rPr>
                      <a:t>/</a:t>
                    </a:r>
                    <a:endParaRPr lang="en-US" sz="4550" b="1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</p:grpSp>
        <p:sp>
          <p:nvSpPr>
            <p:cNvPr id="44" name="文本框 43"/>
            <p:cNvSpPr txBox="1"/>
            <p:nvPr/>
          </p:nvSpPr>
          <p:spPr>
            <a:xfrm>
              <a:off x="1588" y="43440"/>
              <a:ext cx="76473" cy="3001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HVV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杯英雄联盟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S12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淘汰赛赛程图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--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神将杯</a:t>
              </a:r>
              <a:endPara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97" name="文本框 96"/>
            <p:cNvSpPr txBox="1"/>
            <p:nvPr/>
          </p:nvSpPr>
          <p:spPr>
            <a:xfrm>
              <a:off x="1587" y="465"/>
              <a:ext cx="76473" cy="3001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HVV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杯英雄联盟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S12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淘汰赛赛程图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--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常规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队伍</a:t>
              </a:r>
              <a:endPara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endParaRPr>
            </a:p>
          </p:txBody>
        </p:sp>
        <p:grpSp>
          <p:nvGrpSpPr>
            <p:cNvPr id="198" name="组合 197"/>
            <p:cNvGrpSpPr/>
            <p:nvPr/>
          </p:nvGrpSpPr>
          <p:grpSpPr>
            <a:xfrm>
              <a:off x="1787" y="6646"/>
              <a:ext cx="40808" cy="17059"/>
              <a:chOff x="1787" y="4226"/>
              <a:chExt cx="40808" cy="19149"/>
            </a:xfrm>
          </p:grpSpPr>
          <p:grpSp>
            <p:nvGrpSpPr>
              <p:cNvPr id="8" name="组合 7"/>
              <p:cNvGrpSpPr/>
              <p:nvPr/>
            </p:nvGrpSpPr>
            <p:grpSpPr>
              <a:xfrm rot="0">
                <a:off x="2671" y="5186"/>
                <a:ext cx="7420" cy="3364"/>
                <a:chOff x="431" y="349"/>
                <a:chExt cx="3918" cy="1789"/>
              </a:xfrm>
            </p:grpSpPr>
            <p:sp>
              <p:nvSpPr>
                <p:cNvPr id="4" name="矩形 3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" name="矩形 4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  <p:sp>
              <p:nvSpPr>
                <p:cNvPr id="6" name="矩形 5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" name="矩形 6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9" name="组合 8"/>
              <p:cNvGrpSpPr/>
              <p:nvPr/>
            </p:nvGrpSpPr>
            <p:grpSpPr>
              <a:xfrm rot="0">
                <a:off x="2671" y="9877"/>
                <a:ext cx="7420" cy="3364"/>
                <a:chOff x="431" y="349"/>
                <a:chExt cx="3918" cy="1789"/>
              </a:xfrm>
            </p:grpSpPr>
            <p:sp>
              <p:nvSpPr>
                <p:cNvPr id="10" name="矩形 9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1" name="矩形 10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2" name="矩形 11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3" name="矩形 12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</p:grpSp>
          <p:grpSp>
            <p:nvGrpSpPr>
              <p:cNvPr id="14" name="组合 13"/>
              <p:cNvGrpSpPr/>
              <p:nvPr/>
            </p:nvGrpSpPr>
            <p:grpSpPr>
              <a:xfrm rot="0">
                <a:off x="2671" y="14568"/>
                <a:ext cx="7420" cy="3364"/>
                <a:chOff x="431" y="349"/>
                <a:chExt cx="3918" cy="1789"/>
              </a:xfrm>
            </p:grpSpPr>
            <p:sp>
              <p:nvSpPr>
                <p:cNvPr id="15" name="矩形 14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" name="矩形 15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7" name="矩形 16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" name="矩形 17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</p:grpSp>
          <p:grpSp>
            <p:nvGrpSpPr>
              <p:cNvPr id="19" name="组合 18"/>
              <p:cNvGrpSpPr/>
              <p:nvPr/>
            </p:nvGrpSpPr>
            <p:grpSpPr>
              <a:xfrm rot="0">
                <a:off x="2671" y="19259"/>
                <a:ext cx="7420" cy="3364"/>
                <a:chOff x="431" y="349"/>
                <a:chExt cx="3918" cy="1789"/>
              </a:xfrm>
            </p:grpSpPr>
            <p:sp>
              <p:nvSpPr>
                <p:cNvPr id="20" name="矩形 19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" name="矩形 20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" name="矩形 21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" name="矩形 22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107" name="矩形 106"/>
              <p:cNvSpPr/>
              <p:nvPr/>
            </p:nvSpPr>
            <p:spPr>
              <a:xfrm>
                <a:off x="1787" y="4226"/>
                <a:ext cx="40808" cy="1914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grpSp>
            <p:nvGrpSpPr>
              <p:cNvPr id="109" name="组合 108"/>
              <p:cNvGrpSpPr/>
              <p:nvPr/>
            </p:nvGrpSpPr>
            <p:grpSpPr>
              <a:xfrm rot="0">
                <a:off x="15772" y="7493"/>
                <a:ext cx="7420" cy="3364"/>
                <a:chOff x="431" y="349"/>
                <a:chExt cx="3918" cy="1789"/>
              </a:xfrm>
            </p:grpSpPr>
            <p:sp>
              <p:nvSpPr>
                <p:cNvPr id="110" name="矩形 109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11" name="矩形 110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12" name="矩形 111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13" name="矩形 112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</p:grpSp>
          <p:grpSp>
            <p:nvGrpSpPr>
              <p:cNvPr id="114" name="组合 113"/>
              <p:cNvGrpSpPr/>
              <p:nvPr/>
            </p:nvGrpSpPr>
            <p:grpSpPr>
              <a:xfrm rot="0">
                <a:off x="15769" y="16734"/>
                <a:ext cx="7420" cy="3364"/>
                <a:chOff x="431" y="349"/>
                <a:chExt cx="3918" cy="1789"/>
              </a:xfrm>
            </p:grpSpPr>
            <p:sp>
              <p:nvSpPr>
                <p:cNvPr id="115" name="矩形 114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16" name="矩形 115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46" name="矩形 145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47" name="矩形 146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</p:grpSp>
          <p:cxnSp>
            <p:nvCxnSpPr>
              <p:cNvPr id="155" name="肘形连接符 154"/>
              <p:cNvCxnSpPr>
                <a:stCxn id="21" idx="3"/>
                <a:endCxn id="146" idx="1"/>
              </p:cNvCxnSpPr>
              <p:nvPr/>
            </p:nvCxnSpPr>
            <p:spPr>
              <a:xfrm flipV="1">
                <a:off x="10093" y="19259"/>
                <a:ext cx="5676" cy="842"/>
              </a:xfrm>
              <a:prstGeom prst="bentConnector3">
                <a:avLst>
                  <a:gd name="adj1" fmla="val 50000"/>
                </a:avLst>
              </a:prstGeom>
              <a:ln w="412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57" name="肘形连接符 156"/>
              <p:cNvCxnSpPr>
                <a:stCxn id="16" idx="3"/>
                <a:endCxn id="115" idx="1"/>
              </p:cNvCxnSpPr>
              <p:nvPr/>
            </p:nvCxnSpPr>
            <p:spPr>
              <a:xfrm>
                <a:off x="10093" y="15410"/>
                <a:ext cx="5676" cy="2166"/>
              </a:xfrm>
              <a:prstGeom prst="bentConnector3">
                <a:avLst>
                  <a:gd name="adj1" fmla="val 50000"/>
                </a:avLst>
              </a:prstGeom>
              <a:ln w="412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58" name="肘形连接符 157"/>
              <p:cNvCxnSpPr>
                <a:stCxn id="5" idx="3"/>
                <a:endCxn id="110" idx="1"/>
              </p:cNvCxnSpPr>
              <p:nvPr/>
            </p:nvCxnSpPr>
            <p:spPr>
              <a:xfrm>
                <a:off x="10093" y="6028"/>
                <a:ext cx="5679" cy="2307"/>
              </a:xfrm>
              <a:prstGeom prst="bentConnector3">
                <a:avLst>
                  <a:gd name="adj1" fmla="val 50009"/>
                </a:avLst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59" name="肘形连接符 158"/>
              <p:cNvCxnSpPr>
                <a:stCxn id="11" idx="3"/>
                <a:endCxn id="112" idx="1"/>
              </p:cNvCxnSpPr>
              <p:nvPr/>
            </p:nvCxnSpPr>
            <p:spPr>
              <a:xfrm flipV="1">
                <a:off x="10093" y="10017"/>
                <a:ext cx="5679" cy="702"/>
              </a:xfrm>
              <a:prstGeom prst="bentConnector3">
                <a:avLst>
                  <a:gd name="adj1" fmla="val 50009"/>
                </a:avLst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81" name="肘形连接符 180"/>
              <p:cNvCxnSpPr>
                <a:stCxn id="111" idx="3"/>
                <a:endCxn id="187" idx="1"/>
              </p:cNvCxnSpPr>
              <p:nvPr/>
            </p:nvCxnSpPr>
            <p:spPr>
              <a:xfrm>
                <a:off x="23194" y="8335"/>
                <a:ext cx="8287" cy="4448"/>
              </a:xfrm>
              <a:prstGeom prst="bentConnector3">
                <a:avLst>
                  <a:gd name="adj1" fmla="val 50006"/>
                </a:avLst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82" name="肘形连接符 181"/>
              <p:cNvCxnSpPr>
                <a:stCxn id="116" idx="3"/>
                <a:endCxn id="188" idx="1"/>
              </p:cNvCxnSpPr>
              <p:nvPr/>
            </p:nvCxnSpPr>
            <p:spPr>
              <a:xfrm flipV="1">
                <a:off x="23191" y="14698"/>
                <a:ext cx="8290" cy="2878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sp>
            <p:nvSpPr>
              <p:cNvPr id="185" name="文本框 184"/>
              <p:cNvSpPr txBox="1"/>
              <p:nvPr/>
            </p:nvSpPr>
            <p:spPr>
              <a:xfrm>
                <a:off x="30130" y="9176"/>
                <a:ext cx="10636" cy="2023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algn="ctr"/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四强晋级队伍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-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上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半区</a:t>
                </a:r>
                <a:endPara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  <p:sp>
            <p:nvSpPr>
              <p:cNvPr id="186" name="矩形 185"/>
              <p:cNvSpPr/>
              <p:nvPr/>
            </p:nvSpPr>
            <p:spPr>
              <a:xfrm>
                <a:off x="30130" y="11199"/>
                <a:ext cx="10636" cy="542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sp>
            <p:nvSpPr>
              <p:cNvPr id="187" name="矩形 186"/>
              <p:cNvSpPr/>
              <p:nvPr/>
            </p:nvSpPr>
            <p:spPr>
              <a:xfrm>
                <a:off x="31481" y="11825"/>
                <a:ext cx="8666" cy="1915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</a:rPr>
                  <a:t>待定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88" name="矩形 187"/>
              <p:cNvSpPr/>
              <p:nvPr/>
            </p:nvSpPr>
            <p:spPr>
              <a:xfrm>
                <a:off x="31481" y="13740"/>
                <a:ext cx="8666" cy="1915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</a:rPr>
                  <a:t>待定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99" name="组合 198"/>
            <p:cNvGrpSpPr/>
            <p:nvPr/>
          </p:nvGrpSpPr>
          <p:grpSpPr>
            <a:xfrm>
              <a:off x="1787" y="24304"/>
              <a:ext cx="40808" cy="18430"/>
              <a:chOff x="1787" y="4226"/>
              <a:chExt cx="40808" cy="19149"/>
            </a:xfrm>
          </p:grpSpPr>
          <p:grpSp>
            <p:nvGrpSpPr>
              <p:cNvPr id="200" name="组合 199"/>
              <p:cNvGrpSpPr/>
              <p:nvPr/>
            </p:nvGrpSpPr>
            <p:grpSpPr>
              <a:xfrm rot="0">
                <a:off x="2671" y="5186"/>
                <a:ext cx="7420" cy="3364"/>
                <a:chOff x="431" y="349"/>
                <a:chExt cx="3918" cy="1789"/>
              </a:xfrm>
            </p:grpSpPr>
            <p:sp>
              <p:nvSpPr>
                <p:cNvPr id="201" name="矩形 200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2" name="矩形 201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  <p:sp>
              <p:nvSpPr>
                <p:cNvPr id="203" name="矩形 202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4" name="矩形 203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205" name="组合 204"/>
              <p:cNvGrpSpPr/>
              <p:nvPr/>
            </p:nvGrpSpPr>
            <p:grpSpPr>
              <a:xfrm rot="0">
                <a:off x="2671" y="9877"/>
                <a:ext cx="7420" cy="3364"/>
                <a:chOff x="431" y="349"/>
                <a:chExt cx="3918" cy="1789"/>
              </a:xfrm>
            </p:grpSpPr>
            <p:sp>
              <p:nvSpPr>
                <p:cNvPr id="206" name="矩形 205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7" name="矩形 206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8" name="矩形 207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9" name="矩形 208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</p:grpSp>
          <p:grpSp>
            <p:nvGrpSpPr>
              <p:cNvPr id="210" name="组合 209"/>
              <p:cNvGrpSpPr/>
              <p:nvPr/>
            </p:nvGrpSpPr>
            <p:grpSpPr>
              <a:xfrm rot="0">
                <a:off x="2671" y="14568"/>
                <a:ext cx="7420" cy="3364"/>
                <a:chOff x="431" y="349"/>
                <a:chExt cx="3918" cy="1789"/>
              </a:xfrm>
            </p:grpSpPr>
            <p:sp>
              <p:nvSpPr>
                <p:cNvPr id="211" name="矩形 210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2" name="矩形 211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3" name="矩形 212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4" name="矩形 213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</p:grpSp>
          <p:grpSp>
            <p:nvGrpSpPr>
              <p:cNvPr id="215" name="组合 214"/>
              <p:cNvGrpSpPr/>
              <p:nvPr/>
            </p:nvGrpSpPr>
            <p:grpSpPr>
              <a:xfrm rot="0">
                <a:off x="2671" y="19259"/>
                <a:ext cx="7420" cy="3364"/>
                <a:chOff x="431" y="349"/>
                <a:chExt cx="3918" cy="1789"/>
              </a:xfrm>
            </p:grpSpPr>
            <p:sp>
              <p:nvSpPr>
                <p:cNvPr id="216" name="矩形 215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7" name="矩形 216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8" name="矩形 217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9" name="矩形 218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220" name="矩形 219"/>
              <p:cNvSpPr/>
              <p:nvPr/>
            </p:nvSpPr>
            <p:spPr>
              <a:xfrm>
                <a:off x="1787" y="4226"/>
                <a:ext cx="40808" cy="1914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grpSp>
            <p:nvGrpSpPr>
              <p:cNvPr id="221" name="组合 220"/>
              <p:cNvGrpSpPr/>
              <p:nvPr/>
            </p:nvGrpSpPr>
            <p:grpSpPr>
              <a:xfrm rot="0">
                <a:off x="15772" y="7493"/>
                <a:ext cx="7420" cy="3364"/>
                <a:chOff x="431" y="349"/>
                <a:chExt cx="3918" cy="1789"/>
              </a:xfrm>
            </p:grpSpPr>
            <p:sp>
              <p:nvSpPr>
                <p:cNvPr id="222" name="矩形 221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3" name="矩形 222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4" name="矩形 223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5" name="矩形 224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</p:grpSp>
          <p:grpSp>
            <p:nvGrpSpPr>
              <p:cNvPr id="226" name="组合 225"/>
              <p:cNvGrpSpPr/>
              <p:nvPr/>
            </p:nvGrpSpPr>
            <p:grpSpPr>
              <a:xfrm rot="0">
                <a:off x="15769" y="16734"/>
                <a:ext cx="7420" cy="3364"/>
                <a:chOff x="431" y="349"/>
                <a:chExt cx="3918" cy="1789"/>
              </a:xfrm>
            </p:grpSpPr>
            <p:sp>
              <p:nvSpPr>
                <p:cNvPr id="227" name="矩形 226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8" name="矩形 227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9" name="矩形 228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0" name="矩形 229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</p:grpSp>
          <p:cxnSp>
            <p:nvCxnSpPr>
              <p:cNvPr id="231" name="肘形连接符 230"/>
              <p:cNvCxnSpPr>
                <a:stCxn id="217" idx="3"/>
                <a:endCxn id="229" idx="1"/>
              </p:cNvCxnSpPr>
              <p:nvPr/>
            </p:nvCxnSpPr>
            <p:spPr>
              <a:xfrm flipV="1">
                <a:off x="10093" y="19259"/>
                <a:ext cx="5676" cy="842"/>
              </a:xfrm>
              <a:prstGeom prst="bentConnector3">
                <a:avLst>
                  <a:gd name="adj1" fmla="val 50000"/>
                </a:avLst>
              </a:prstGeom>
              <a:ln w="412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232" name="肘形连接符 231"/>
              <p:cNvCxnSpPr>
                <a:stCxn id="212" idx="3"/>
                <a:endCxn id="227" idx="1"/>
              </p:cNvCxnSpPr>
              <p:nvPr/>
            </p:nvCxnSpPr>
            <p:spPr>
              <a:xfrm>
                <a:off x="10093" y="15410"/>
                <a:ext cx="5676" cy="2166"/>
              </a:xfrm>
              <a:prstGeom prst="bentConnector3">
                <a:avLst>
                  <a:gd name="adj1" fmla="val 50000"/>
                </a:avLst>
              </a:prstGeom>
              <a:ln w="412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233" name="肘形连接符 232"/>
              <p:cNvCxnSpPr>
                <a:stCxn id="202" idx="3"/>
                <a:endCxn id="222" idx="1"/>
              </p:cNvCxnSpPr>
              <p:nvPr/>
            </p:nvCxnSpPr>
            <p:spPr>
              <a:xfrm>
                <a:off x="10093" y="6028"/>
                <a:ext cx="5679" cy="2307"/>
              </a:xfrm>
              <a:prstGeom prst="bentConnector3">
                <a:avLst>
                  <a:gd name="adj1" fmla="val 50009"/>
                </a:avLst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234" name="肘形连接符 233"/>
              <p:cNvCxnSpPr>
                <a:stCxn id="207" idx="3"/>
                <a:endCxn id="224" idx="1"/>
              </p:cNvCxnSpPr>
              <p:nvPr/>
            </p:nvCxnSpPr>
            <p:spPr>
              <a:xfrm flipV="1">
                <a:off x="10093" y="10017"/>
                <a:ext cx="5679" cy="702"/>
              </a:xfrm>
              <a:prstGeom prst="bentConnector3">
                <a:avLst>
                  <a:gd name="adj1" fmla="val 50009"/>
                </a:avLst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235" name="肘形连接符 234"/>
              <p:cNvCxnSpPr>
                <a:stCxn id="223" idx="3"/>
                <a:endCxn id="239" idx="1"/>
              </p:cNvCxnSpPr>
              <p:nvPr/>
            </p:nvCxnSpPr>
            <p:spPr>
              <a:xfrm>
                <a:off x="23194" y="8335"/>
                <a:ext cx="8287" cy="4448"/>
              </a:xfrm>
              <a:prstGeom prst="bentConnector3">
                <a:avLst>
                  <a:gd name="adj1" fmla="val 50006"/>
                </a:avLst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236" name="肘形连接符 235"/>
              <p:cNvCxnSpPr>
                <a:stCxn id="228" idx="3"/>
                <a:endCxn id="240" idx="1"/>
              </p:cNvCxnSpPr>
              <p:nvPr/>
            </p:nvCxnSpPr>
            <p:spPr>
              <a:xfrm flipV="1">
                <a:off x="23191" y="14698"/>
                <a:ext cx="8290" cy="2878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sp>
            <p:nvSpPr>
              <p:cNvPr id="237" name="文本框 236"/>
              <p:cNvSpPr txBox="1"/>
              <p:nvPr/>
            </p:nvSpPr>
            <p:spPr>
              <a:xfrm>
                <a:off x="30130" y="9176"/>
                <a:ext cx="10636" cy="2023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algn="ctr"/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四强晋级队伍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-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下半区</a:t>
                </a:r>
                <a:endPara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  <p:sp>
            <p:nvSpPr>
              <p:cNvPr id="238" name="矩形 237"/>
              <p:cNvSpPr/>
              <p:nvPr/>
            </p:nvSpPr>
            <p:spPr>
              <a:xfrm>
                <a:off x="30130" y="11199"/>
                <a:ext cx="10636" cy="542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sp>
            <p:nvSpPr>
              <p:cNvPr id="239" name="矩形 238"/>
              <p:cNvSpPr/>
              <p:nvPr/>
            </p:nvSpPr>
            <p:spPr>
              <a:xfrm>
                <a:off x="31481" y="11825"/>
                <a:ext cx="8666" cy="1915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</a:rPr>
                  <a:t>待定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40" name="矩形 239"/>
              <p:cNvSpPr/>
              <p:nvPr/>
            </p:nvSpPr>
            <p:spPr>
              <a:xfrm>
                <a:off x="31481" y="13740"/>
                <a:ext cx="8666" cy="1915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</a:rPr>
                  <a:t>待定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1" name="文本框 240"/>
            <p:cNvSpPr txBox="1"/>
            <p:nvPr/>
          </p:nvSpPr>
          <p:spPr>
            <a:xfrm>
              <a:off x="1787" y="4166"/>
              <a:ext cx="40809" cy="248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16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进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淘汰赛</a:t>
              </a:r>
              <a:endPara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42" name="文本框 241"/>
            <p:cNvSpPr txBox="1"/>
            <p:nvPr/>
          </p:nvSpPr>
          <p:spPr>
            <a:xfrm>
              <a:off x="44114" y="4166"/>
              <a:ext cx="33945" cy="248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强淘汰赛</a:t>
              </a:r>
              <a:endPara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43" name="矩形 242"/>
            <p:cNvSpPr/>
            <p:nvPr/>
          </p:nvSpPr>
          <p:spPr>
            <a:xfrm>
              <a:off x="44114" y="6682"/>
              <a:ext cx="33945" cy="36052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244" name="组合 243"/>
            <p:cNvGrpSpPr/>
            <p:nvPr/>
          </p:nvGrpSpPr>
          <p:grpSpPr>
            <a:xfrm>
              <a:off x="45282" y="10856"/>
              <a:ext cx="30739" cy="27917"/>
              <a:chOff x="51531" y="53952"/>
              <a:chExt cx="25421" cy="11718"/>
            </a:xfrm>
          </p:grpSpPr>
          <p:sp>
            <p:nvSpPr>
              <p:cNvPr id="245" name="文本框 244"/>
              <p:cNvSpPr txBox="1"/>
              <p:nvPr/>
            </p:nvSpPr>
            <p:spPr>
              <a:xfrm>
                <a:off x="51531" y="53952"/>
                <a:ext cx="11063" cy="1584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algn="ctr"/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第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一轮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(1-0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分组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)</a:t>
                </a:r>
                <a:endPara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  <p:sp>
            <p:nvSpPr>
              <p:cNvPr id="246" name="矩形 245"/>
              <p:cNvSpPr/>
              <p:nvPr/>
            </p:nvSpPr>
            <p:spPr>
              <a:xfrm>
                <a:off x="51531" y="55536"/>
                <a:ext cx="11063" cy="398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grpSp>
            <p:nvGrpSpPr>
              <p:cNvPr id="247" name="组合 246"/>
              <p:cNvGrpSpPr/>
              <p:nvPr/>
            </p:nvGrpSpPr>
            <p:grpSpPr>
              <a:xfrm rot="0">
                <a:off x="52816" y="56027"/>
                <a:ext cx="8494" cy="2997"/>
                <a:chOff x="431" y="349"/>
                <a:chExt cx="3918" cy="1789"/>
              </a:xfrm>
            </p:grpSpPr>
            <p:sp>
              <p:nvSpPr>
                <p:cNvPr id="248" name="矩形 247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  <a:sym typeface="+mn-ea"/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49" name="矩形 248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  <p:sp>
              <p:nvSpPr>
                <p:cNvPr id="250" name="矩形 249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  <a:sym typeface="+mn-ea"/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1" name="矩形 250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252" name="组合 251"/>
              <p:cNvGrpSpPr/>
              <p:nvPr/>
            </p:nvGrpSpPr>
            <p:grpSpPr>
              <a:xfrm rot="0">
                <a:off x="51531" y="60098"/>
                <a:ext cx="11062" cy="5572"/>
                <a:chOff x="53765" y="17173"/>
                <a:chExt cx="9664" cy="5572"/>
              </a:xfrm>
            </p:grpSpPr>
            <p:sp>
              <p:nvSpPr>
                <p:cNvPr id="253" name="文本框 252"/>
                <p:cNvSpPr txBox="1"/>
                <p:nvPr/>
              </p:nvSpPr>
              <p:spPr>
                <a:xfrm>
                  <a:off x="53765" y="17173"/>
                  <a:ext cx="9665" cy="1584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txBody>
                <a:bodyPr wrap="square" rtlCol="0" anchor="ctr" anchorCtr="0">
                  <a:noAutofit/>
                </a:bodyPr>
                <a:p>
                  <a:pPr algn="ctr"/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第</a:t>
                  </a:r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一轮</a:t>
                  </a:r>
                  <a:r>
                    <a:rPr lang="en-US" altLang="zh-CN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(0-1</a:t>
                  </a:r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分组</a:t>
                  </a:r>
                  <a:r>
                    <a:rPr lang="en-US" altLang="zh-CN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)</a:t>
                  </a:r>
                  <a:endPara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endParaRPr>
                </a:p>
              </p:txBody>
            </p:sp>
            <p:sp>
              <p:nvSpPr>
                <p:cNvPr id="254" name="矩形 253"/>
                <p:cNvSpPr/>
                <p:nvPr/>
              </p:nvSpPr>
              <p:spPr>
                <a:xfrm>
                  <a:off x="53765" y="18757"/>
                  <a:ext cx="9665" cy="3988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  <a:prstDash val="dash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560"/>
                </a:p>
              </p:txBody>
            </p:sp>
            <p:grpSp>
              <p:nvGrpSpPr>
                <p:cNvPr id="255" name="组合 254"/>
                <p:cNvGrpSpPr/>
                <p:nvPr/>
              </p:nvGrpSpPr>
              <p:grpSpPr>
                <a:xfrm rot="0">
                  <a:off x="54888" y="19247"/>
                  <a:ext cx="7420" cy="2997"/>
                  <a:chOff x="431" y="349"/>
                  <a:chExt cx="3918" cy="1789"/>
                </a:xfrm>
              </p:grpSpPr>
              <p:sp>
                <p:nvSpPr>
                  <p:cNvPr id="256" name="矩形 255"/>
                  <p:cNvSpPr/>
                  <p:nvPr/>
                </p:nvSpPr>
                <p:spPr>
                  <a:xfrm>
                    <a:off x="431" y="349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待定</a:t>
                    </a:r>
                    <a:endParaRPr lang="en-US" altLang="zh-CN" sz="4550" b="1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57" name="矩形 256"/>
                  <p:cNvSpPr/>
                  <p:nvPr/>
                </p:nvSpPr>
                <p:spPr>
                  <a:xfrm>
                    <a:off x="3633" y="349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rgbClr val="0070C0"/>
                        </a:solidFill>
                      </a:rPr>
                      <a:t>/</a:t>
                    </a:r>
                    <a:endParaRPr lang="en-US" sz="4550" b="1">
                      <a:solidFill>
                        <a:srgbClr val="0070C0"/>
                      </a:solidFill>
                    </a:endParaRPr>
                  </a:p>
                </p:txBody>
              </p:sp>
              <p:sp>
                <p:nvSpPr>
                  <p:cNvPr id="258" name="矩形 257"/>
                  <p:cNvSpPr/>
                  <p:nvPr/>
                </p:nvSpPr>
                <p:spPr>
                  <a:xfrm>
                    <a:off x="431" y="1244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待定</a:t>
                    </a:r>
                    <a:r>
                      <a:rPr lang="en-US" altLang="zh-CN" sz="4550" b="1">
                        <a:solidFill>
                          <a:schemeClr val="tx1"/>
                        </a:solidFill>
                      </a:rPr>
                      <a:t>(</a:t>
                    </a:r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殿军</a:t>
                    </a:r>
                    <a:r>
                      <a:rPr lang="en-US" altLang="zh-CN" sz="4550" b="1">
                        <a:solidFill>
                          <a:schemeClr val="tx1"/>
                        </a:solidFill>
                      </a:rPr>
                      <a:t>)</a:t>
                    </a:r>
                    <a:endParaRPr lang="zh-CN" altLang="en-US" sz="4550" b="1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59" name="矩形 258"/>
                  <p:cNvSpPr/>
                  <p:nvPr/>
                </p:nvSpPr>
                <p:spPr>
                  <a:xfrm>
                    <a:off x="3633" y="1244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rgbClr val="0070C0"/>
                        </a:solidFill>
                      </a:rPr>
                      <a:t>/</a:t>
                    </a:r>
                    <a:endParaRPr lang="en-US" sz="4550" b="1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grpSp>
            <p:nvGrpSpPr>
              <p:cNvPr id="260" name="组合 259"/>
              <p:cNvGrpSpPr/>
              <p:nvPr/>
            </p:nvGrpSpPr>
            <p:grpSpPr>
              <a:xfrm rot="0">
                <a:off x="63828" y="60098"/>
                <a:ext cx="13125" cy="5572"/>
                <a:chOff x="53765" y="17173"/>
                <a:chExt cx="9664" cy="5572"/>
              </a:xfrm>
            </p:grpSpPr>
            <p:sp>
              <p:nvSpPr>
                <p:cNvPr id="261" name="文本框 260"/>
                <p:cNvSpPr txBox="1"/>
                <p:nvPr/>
              </p:nvSpPr>
              <p:spPr>
                <a:xfrm>
                  <a:off x="53765" y="17173"/>
                  <a:ext cx="9665" cy="1584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txBody>
                <a:bodyPr wrap="square" rtlCol="0" anchor="ctr" anchorCtr="0">
                  <a:noAutofit/>
                </a:bodyPr>
                <a:p>
                  <a:pPr algn="ctr"/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第</a:t>
                  </a:r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二轮</a:t>
                  </a:r>
                  <a:r>
                    <a:rPr lang="en-US" altLang="zh-CN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(1-1</a:t>
                  </a:r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分组</a:t>
                  </a:r>
                  <a:r>
                    <a:rPr lang="en-US" altLang="zh-CN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)</a:t>
                  </a:r>
                  <a:endPara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endParaRPr>
                </a:p>
              </p:txBody>
            </p:sp>
            <p:sp>
              <p:nvSpPr>
                <p:cNvPr id="262" name="矩形 261"/>
                <p:cNvSpPr/>
                <p:nvPr/>
              </p:nvSpPr>
              <p:spPr>
                <a:xfrm>
                  <a:off x="53765" y="18757"/>
                  <a:ext cx="9665" cy="3988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>
                  <a:solidFill>
                    <a:schemeClr val="tx1"/>
                  </a:solidFill>
                  <a:prstDash val="dash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560"/>
                </a:p>
              </p:txBody>
            </p:sp>
            <p:grpSp>
              <p:nvGrpSpPr>
                <p:cNvPr id="263" name="组合 262"/>
                <p:cNvGrpSpPr/>
                <p:nvPr/>
              </p:nvGrpSpPr>
              <p:grpSpPr>
                <a:xfrm rot="0">
                  <a:off x="54888" y="19247"/>
                  <a:ext cx="7420" cy="2997"/>
                  <a:chOff x="431" y="349"/>
                  <a:chExt cx="3918" cy="1789"/>
                </a:xfrm>
              </p:grpSpPr>
              <p:sp>
                <p:nvSpPr>
                  <p:cNvPr id="264" name="矩形 263"/>
                  <p:cNvSpPr/>
                  <p:nvPr/>
                </p:nvSpPr>
                <p:spPr>
                  <a:xfrm>
                    <a:off x="431" y="349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待定</a:t>
                    </a:r>
                    <a:endParaRPr lang="zh-CN" altLang="en-US" sz="4550" b="1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65" name="矩形 264"/>
                  <p:cNvSpPr/>
                  <p:nvPr/>
                </p:nvSpPr>
                <p:spPr>
                  <a:xfrm>
                    <a:off x="3633" y="349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rgbClr val="0070C0"/>
                        </a:solidFill>
                      </a:rPr>
                      <a:t>/</a:t>
                    </a:r>
                    <a:endParaRPr lang="en-US" sz="4550" b="1">
                      <a:solidFill>
                        <a:srgbClr val="0070C0"/>
                      </a:solidFill>
                    </a:endParaRPr>
                  </a:p>
                </p:txBody>
              </p:sp>
              <p:sp>
                <p:nvSpPr>
                  <p:cNvPr id="266" name="矩形 265"/>
                  <p:cNvSpPr/>
                  <p:nvPr/>
                </p:nvSpPr>
                <p:spPr>
                  <a:xfrm>
                    <a:off x="431" y="1244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  <a:sym typeface="+mn-ea"/>
                      </a:rPr>
                      <a:t>待定</a:t>
                    </a:r>
                    <a:r>
                      <a:rPr lang="en-US" altLang="zh-CN" sz="4550" b="1">
                        <a:solidFill>
                          <a:schemeClr val="tx1"/>
                        </a:solidFill>
                      </a:rPr>
                      <a:t>(</a:t>
                    </a:r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季军</a:t>
                    </a:r>
                    <a:r>
                      <a:rPr lang="en-US" altLang="zh-CN" sz="4550" b="1">
                        <a:solidFill>
                          <a:schemeClr val="tx1"/>
                        </a:solidFill>
                      </a:rPr>
                      <a:t>)</a:t>
                    </a:r>
                    <a:r>
                      <a:rPr lang="zh-CN" altLang="en-US" sz="4550" b="1">
                        <a:solidFill>
                          <a:schemeClr val="accent1"/>
                        </a:solidFill>
                      </a:rPr>
                      <a:t>🥉</a:t>
                    </a:r>
                    <a:endParaRPr lang="zh-CN" altLang="en-US" sz="4550" b="1">
                      <a:solidFill>
                        <a:schemeClr val="accent1"/>
                      </a:solidFill>
                    </a:endParaRPr>
                  </a:p>
                </p:txBody>
              </p:sp>
              <p:sp>
                <p:nvSpPr>
                  <p:cNvPr id="267" name="矩形 266"/>
                  <p:cNvSpPr/>
                  <p:nvPr/>
                </p:nvSpPr>
                <p:spPr>
                  <a:xfrm>
                    <a:off x="3633" y="1244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rgbClr val="0070C0"/>
                        </a:solidFill>
                      </a:rPr>
                      <a:t>/</a:t>
                    </a:r>
                    <a:endParaRPr lang="en-US" sz="4550" b="1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grpSp>
            <p:nvGrpSpPr>
              <p:cNvPr id="268" name="组合 267"/>
              <p:cNvGrpSpPr/>
              <p:nvPr/>
            </p:nvGrpSpPr>
            <p:grpSpPr>
              <a:xfrm rot="0">
                <a:off x="63829" y="53952"/>
                <a:ext cx="13122" cy="5572"/>
                <a:chOff x="53765" y="17173"/>
                <a:chExt cx="9664" cy="5572"/>
              </a:xfrm>
            </p:grpSpPr>
            <p:sp>
              <p:nvSpPr>
                <p:cNvPr id="269" name="文本框 268"/>
                <p:cNvSpPr txBox="1"/>
                <p:nvPr/>
              </p:nvSpPr>
              <p:spPr>
                <a:xfrm>
                  <a:off x="53765" y="17173"/>
                  <a:ext cx="9665" cy="1584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</p:spPr>
              <p:txBody>
                <a:bodyPr wrap="square" rtlCol="0" anchor="ctr" anchorCtr="0">
                  <a:noAutofit/>
                </a:bodyPr>
                <a:p>
                  <a:pPr algn="ctr"/>
                  <a:r>
                    <a:rPr lang="zh-CN" altLang="en-US" sz="4550" b="1">
                      <a:solidFill>
                        <a:schemeClr val="accent1"/>
                      </a:solidFill>
                      <a:latin typeface="微软雅黑" panose="020B0503020204020204" charset="-122"/>
                      <a:ea typeface="微软雅黑" panose="020B0503020204020204" charset="-122"/>
                      <a:cs typeface="微软雅黑" panose="020B0503020204020204" charset="-122"/>
                    </a:rPr>
                    <a:t>总决赛</a:t>
                  </a:r>
                  <a:endPara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endParaRPr>
                </a:p>
              </p:txBody>
            </p:sp>
            <p:sp>
              <p:nvSpPr>
                <p:cNvPr id="270" name="矩形 269"/>
                <p:cNvSpPr/>
                <p:nvPr/>
              </p:nvSpPr>
              <p:spPr>
                <a:xfrm>
                  <a:off x="53765" y="18757"/>
                  <a:ext cx="9665" cy="3988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>
                  <a:solidFill>
                    <a:schemeClr val="tx1"/>
                  </a:solidFill>
                  <a:prstDash val="dash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 sz="2560"/>
                </a:p>
              </p:txBody>
            </p:sp>
            <p:grpSp>
              <p:nvGrpSpPr>
                <p:cNvPr id="271" name="组合 270"/>
                <p:cNvGrpSpPr/>
                <p:nvPr/>
              </p:nvGrpSpPr>
              <p:grpSpPr>
                <a:xfrm rot="0">
                  <a:off x="54888" y="19247"/>
                  <a:ext cx="7420" cy="2997"/>
                  <a:chOff x="431" y="349"/>
                  <a:chExt cx="3918" cy="1789"/>
                </a:xfrm>
              </p:grpSpPr>
              <p:sp>
                <p:nvSpPr>
                  <p:cNvPr id="272" name="矩形 271"/>
                  <p:cNvSpPr/>
                  <p:nvPr/>
                </p:nvSpPr>
                <p:spPr>
                  <a:xfrm>
                    <a:off x="431" y="349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  <a:sym typeface="+mn-ea"/>
                      </a:rPr>
                      <a:t>待定</a:t>
                    </a:r>
                    <a:r>
                      <a:rPr lang="en-US" altLang="zh-CN" sz="4550" b="1">
                        <a:solidFill>
                          <a:schemeClr val="tx1"/>
                        </a:solidFill>
                      </a:rPr>
                      <a:t>(</a:t>
                    </a:r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冠军</a:t>
                    </a:r>
                    <a:r>
                      <a:rPr lang="en-US" altLang="zh-CN" sz="4550" b="1">
                        <a:solidFill>
                          <a:schemeClr val="tx1"/>
                        </a:solidFill>
                      </a:rPr>
                      <a:t>)</a:t>
                    </a:r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🏆</a:t>
                    </a:r>
                    <a:endParaRPr lang="zh-CN" altLang="en-US" sz="4550" b="1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73" name="矩形 272"/>
                  <p:cNvSpPr/>
                  <p:nvPr/>
                </p:nvSpPr>
                <p:spPr>
                  <a:xfrm>
                    <a:off x="3633" y="349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rgbClr val="0070C0"/>
                        </a:solidFill>
                      </a:rPr>
                      <a:t>/</a:t>
                    </a:r>
                    <a:endParaRPr lang="en-US" sz="4550" b="1">
                      <a:solidFill>
                        <a:srgbClr val="0070C0"/>
                      </a:solidFill>
                    </a:endParaRPr>
                  </a:p>
                </p:txBody>
              </p:sp>
              <p:sp>
                <p:nvSpPr>
                  <p:cNvPr id="274" name="矩形 273"/>
                  <p:cNvSpPr/>
                  <p:nvPr/>
                </p:nvSpPr>
                <p:spPr>
                  <a:xfrm>
                    <a:off x="431" y="1244"/>
                    <a:ext cx="3202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zh-CN" altLang="en-US" sz="4550" b="1">
                        <a:solidFill>
                          <a:schemeClr val="tx1"/>
                        </a:solidFill>
                        <a:sym typeface="+mn-ea"/>
                      </a:rPr>
                      <a:t>待定</a:t>
                    </a:r>
                    <a:r>
                      <a:rPr lang="en-US" altLang="zh-CN" sz="4550" b="1">
                        <a:solidFill>
                          <a:schemeClr val="tx1"/>
                        </a:solidFill>
                      </a:rPr>
                      <a:t>(</a:t>
                    </a:r>
                    <a:r>
                      <a:rPr lang="zh-CN" altLang="en-US" sz="4550" b="1">
                        <a:solidFill>
                          <a:schemeClr val="tx1"/>
                        </a:solidFill>
                      </a:rPr>
                      <a:t>亚军</a:t>
                    </a:r>
                    <a:r>
                      <a:rPr lang="en-US" altLang="zh-CN" sz="4550" b="1">
                        <a:solidFill>
                          <a:schemeClr val="tx1"/>
                        </a:solidFill>
                      </a:rPr>
                      <a:t>)</a:t>
                    </a:r>
                    <a:r>
                      <a:rPr lang="zh-CN" altLang="en-US" sz="4550" b="1">
                        <a:solidFill>
                          <a:schemeClr val="accent1"/>
                        </a:solidFill>
                      </a:rPr>
                      <a:t>🥈</a:t>
                    </a:r>
                    <a:endParaRPr lang="zh-CN" altLang="en-US" sz="4550" b="1">
                      <a:solidFill>
                        <a:schemeClr val="accent1"/>
                      </a:solidFill>
                    </a:endParaRPr>
                  </a:p>
                </p:txBody>
              </p:sp>
              <p:sp>
                <p:nvSpPr>
                  <p:cNvPr id="275" name="矩形 274"/>
                  <p:cNvSpPr/>
                  <p:nvPr/>
                </p:nvSpPr>
                <p:spPr>
                  <a:xfrm>
                    <a:off x="3633" y="1244"/>
                    <a:ext cx="717" cy="895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:r>
                      <a:rPr lang="en-US" sz="4550" b="1">
                        <a:solidFill>
                          <a:srgbClr val="0070C0"/>
                        </a:solidFill>
                      </a:rPr>
                      <a:t>/</a:t>
                    </a:r>
                    <a:endParaRPr lang="en-US" sz="4550" b="1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425</Words>
  <Application>WPS 演示</Application>
  <PresentationFormat>宽屏</PresentationFormat>
  <Paragraphs>272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Arial</vt:lpstr>
      <vt:lpstr>宋体</vt:lpstr>
      <vt:lpstr>Wingdings</vt:lpstr>
      <vt:lpstr>微软雅黑</vt:lpstr>
      <vt:lpstr>Calibri</vt:lpstr>
      <vt:lpstr>Arial Unicode MS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Chadiy</cp:lastModifiedBy>
  <cp:revision>39</cp:revision>
  <dcterms:created xsi:type="dcterms:W3CDTF">2023-08-09T12:44:00Z</dcterms:created>
  <dcterms:modified xsi:type="dcterms:W3CDTF">2026-03-27T16:38:18Z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2052-12.1.0.25835</vt:lpwstr>
  </property>
  <property fmtid="{D5CDD505-2E9C-101B-9397-08002B2CF9AE}" pid="3" name="ICV">
    <vt:lpwstr>EC36D588B10B4BAFB362F4820491652F_12</vt:lpwstr>
  </property>
</Properties>
</file>