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2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2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" name="组合 1"/>
          <p:cNvGrpSpPr/>
          <p:nvPr/>
        </p:nvGrpSpPr>
        <p:grpSpPr>
          <a:xfrm>
            <a:off x="1007745" y="295275"/>
            <a:ext cx="48560355" cy="49569370"/>
            <a:chOff x="1587" y="465"/>
            <a:chExt cx="76473" cy="78062"/>
          </a:xfrm>
        </p:grpSpPr>
        <p:grpSp>
          <p:nvGrpSpPr>
            <p:cNvPr id="99" name="组合 98"/>
            <p:cNvGrpSpPr/>
            <p:nvPr/>
          </p:nvGrpSpPr>
          <p:grpSpPr>
            <a:xfrm rot="0">
              <a:off x="1587" y="47267"/>
              <a:ext cx="47893" cy="31261"/>
              <a:chOff x="14110" y="1022"/>
              <a:chExt cx="41334" cy="43538"/>
            </a:xfrm>
          </p:grpSpPr>
          <p:sp>
            <p:nvSpPr>
              <p:cNvPr id="98" name="矩形 97"/>
              <p:cNvSpPr/>
              <p:nvPr/>
            </p:nvSpPr>
            <p:spPr>
              <a:xfrm>
                <a:off x="14110" y="3899"/>
                <a:ext cx="41334" cy="406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4110" y="1022"/>
                <a:ext cx="41334" cy="2877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altLang="zh-CN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8</a:t>
                </a:r>
                <a:r>
                  <a:rPr lang="zh-CN" alt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进</a:t>
                </a:r>
                <a:r>
                  <a:rPr lang="en-US" altLang="zh-CN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4</a:t>
                </a:r>
                <a:r>
                  <a:rPr lang="zh-CN" alt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淘汰赛</a:t>
                </a:r>
                <a:endPara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</p:grpSp>
        <p:grpSp>
          <p:nvGrpSpPr>
            <p:cNvPr id="46" name="组合 45"/>
            <p:cNvGrpSpPr/>
            <p:nvPr/>
          </p:nvGrpSpPr>
          <p:grpSpPr>
            <a:xfrm>
              <a:off x="2671" y="50019"/>
              <a:ext cx="46313" cy="27626"/>
              <a:chOff x="13865" y="49293"/>
              <a:chExt cx="35119" cy="21628"/>
            </a:xfrm>
          </p:grpSpPr>
          <p:grpSp>
            <p:nvGrpSpPr>
              <p:cNvPr id="101" name="组合 100"/>
              <p:cNvGrpSpPr/>
              <p:nvPr/>
            </p:nvGrpSpPr>
            <p:grpSpPr>
              <a:xfrm rot="0">
                <a:off x="13865" y="50876"/>
                <a:ext cx="11063" cy="9221"/>
                <a:chOff x="29092" y="4819"/>
                <a:chExt cx="10668" cy="12728"/>
              </a:xfrm>
            </p:grpSpPr>
            <p:sp>
              <p:nvSpPr>
                <p:cNvPr id="70" name="文本框 69"/>
                <p:cNvSpPr txBox="1"/>
                <p:nvPr/>
              </p:nvSpPr>
              <p:spPr>
                <a:xfrm>
                  <a:off x="29092" y="4819"/>
                  <a:ext cx="10668" cy="2186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第二轮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(1-0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71" name="矩形 70"/>
                <p:cNvSpPr/>
                <p:nvPr/>
              </p:nvSpPr>
              <p:spPr>
                <a:xfrm>
                  <a:off x="29092" y="7005"/>
                  <a:ext cx="10668" cy="10543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72" name="组合 71"/>
                <p:cNvGrpSpPr/>
                <p:nvPr/>
              </p:nvGrpSpPr>
              <p:grpSpPr>
                <a:xfrm rot="0">
                  <a:off x="30331" y="7682"/>
                  <a:ext cx="8190" cy="4137"/>
                  <a:chOff x="431" y="349"/>
                  <a:chExt cx="3918" cy="1789"/>
                </a:xfrm>
              </p:grpSpPr>
              <p:sp>
                <p:nvSpPr>
                  <p:cNvPr id="73" name="矩形 72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4" name="矩形 73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75" name="矩形 74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6" name="矩形 75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7" name="组合 76"/>
                <p:cNvGrpSpPr/>
                <p:nvPr/>
              </p:nvGrpSpPr>
              <p:grpSpPr>
                <a:xfrm rot="0">
                  <a:off x="30333" y="12617"/>
                  <a:ext cx="8190" cy="4137"/>
                  <a:chOff x="431" y="349"/>
                  <a:chExt cx="3918" cy="1789"/>
                </a:xfrm>
              </p:grpSpPr>
              <p:sp>
                <p:nvSpPr>
                  <p:cNvPr id="78" name="矩形 77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9" name="矩形 78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80" name="矩形 79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矩形 80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00" name="组合 99"/>
              <p:cNvGrpSpPr/>
              <p:nvPr/>
            </p:nvGrpSpPr>
            <p:grpSpPr>
              <a:xfrm rot="0">
                <a:off x="13865" y="60482"/>
                <a:ext cx="11063" cy="9221"/>
                <a:chOff x="26358" y="25111"/>
                <a:chExt cx="10668" cy="12728"/>
              </a:xfrm>
            </p:grpSpPr>
            <p:sp>
              <p:nvSpPr>
                <p:cNvPr id="82" name="文本框 81"/>
                <p:cNvSpPr txBox="1"/>
                <p:nvPr/>
              </p:nvSpPr>
              <p:spPr>
                <a:xfrm>
                  <a:off x="26358" y="25111"/>
                  <a:ext cx="10668" cy="2186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第二轮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(0-1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83" name="矩形 82"/>
                <p:cNvSpPr/>
                <p:nvPr/>
              </p:nvSpPr>
              <p:spPr>
                <a:xfrm>
                  <a:off x="26358" y="27297"/>
                  <a:ext cx="10668" cy="10543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84" name="组合 83"/>
                <p:cNvGrpSpPr/>
                <p:nvPr/>
              </p:nvGrpSpPr>
              <p:grpSpPr>
                <a:xfrm rot="0">
                  <a:off x="27597" y="27974"/>
                  <a:ext cx="8190" cy="4137"/>
                  <a:chOff x="431" y="349"/>
                  <a:chExt cx="3918" cy="1789"/>
                </a:xfrm>
              </p:grpSpPr>
              <p:sp>
                <p:nvSpPr>
                  <p:cNvPr id="85" name="矩形 84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6" name="矩形 85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87" name="矩形 86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8" name="矩形 87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chemeClr val="tx1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89" name="组合 88"/>
                <p:cNvGrpSpPr/>
                <p:nvPr/>
              </p:nvGrpSpPr>
              <p:grpSpPr>
                <a:xfrm rot="0">
                  <a:off x="27599" y="32909"/>
                  <a:ext cx="8190" cy="4137"/>
                  <a:chOff x="431" y="349"/>
                  <a:chExt cx="3918" cy="1789"/>
                </a:xfrm>
              </p:grpSpPr>
              <p:sp>
                <p:nvSpPr>
                  <p:cNvPr id="90" name="矩形 89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1" name="矩形 90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92" name="矩形 91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矩形 92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22" name="组合 121"/>
              <p:cNvGrpSpPr/>
              <p:nvPr/>
            </p:nvGrpSpPr>
            <p:grpSpPr>
              <a:xfrm rot="0">
                <a:off x="26141" y="49293"/>
                <a:ext cx="11063" cy="5829"/>
                <a:chOff x="37786" y="4819"/>
                <a:chExt cx="10668" cy="8046"/>
              </a:xfrm>
            </p:grpSpPr>
            <p:sp>
              <p:nvSpPr>
                <p:cNvPr id="103" name="文本框 102"/>
                <p:cNvSpPr txBox="1"/>
                <p:nvPr/>
              </p:nvSpPr>
              <p:spPr>
                <a:xfrm>
                  <a:off x="37786" y="4819"/>
                  <a:ext cx="10668" cy="2186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2-0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晋级队伍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04" name="矩形 103"/>
                <p:cNvSpPr/>
                <p:nvPr/>
              </p:nvSpPr>
              <p:spPr>
                <a:xfrm>
                  <a:off x="37786" y="7005"/>
                  <a:ext cx="10668" cy="586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05" name="组合 104"/>
                <p:cNvGrpSpPr/>
                <p:nvPr/>
              </p:nvGrpSpPr>
              <p:grpSpPr>
                <a:xfrm rot="0">
                  <a:off x="38774" y="7682"/>
                  <a:ext cx="8692" cy="4139"/>
                  <a:chOff x="431" y="349"/>
                  <a:chExt cx="3202" cy="1790"/>
                </a:xfrm>
              </p:grpSpPr>
              <p:sp>
                <p:nvSpPr>
                  <p:cNvPr id="106" name="矩形 105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8" name="矩形 107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23" name="组合 122"/>
              <p:cNvGrpSpPr/>
              <p:nvPr/>
            </p:nvGrpSpPr>
            <p:grpSpPr>
              <a:xfrm rot="0">
                <a:off x="26141" y="65093"/>
                <a:ext cx="11063" cy="5829"/>
                <a:chOff x="37786" y="31302"/>
                <a:chExt cx="10668" cy="8046"/>
              </a:xfrm>
            </p:grpSpPr>
            <p:sp>
              <p:nvSpPr>
                <p:cNvPr id="117" name="文本框 116"/>
                <p:cNvSpPr txBox="1"/>
                <p:nvPr/>
              </p:nvSpPr>
              <p:spPr>
                <a:xfrm>
                  <a:off x="37786" y="31302"/>
                  <a:ext cx="10668" cy="2186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0-2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淘汰队伍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18" name="矩形 117"/>
                <p:cNvSpPr/>
                <p:nvPr/>
              </p:nvSpPr>
              <p:spPr>
                <a:xfrm>
                  <a:off x="37786" y="33488"/>
                  <a:ext cx="10668" cy="586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19" name="组合 118"/>
                <p:cNvGrpSpPr/>
                <p:nvPr/>
              </p:nvGrpSpPr>
              <p:grpSpPr>
                <a:xfrm rot="0">
                  <a:off x="38774" y="34165"/>
                  <a:ext cx="8692" cy="4139"/>
                  <a:chOff x="431" y="349"/>
                  <a:chExt cx="3202" cy="1790"/>
                </a:xfrm>
              </p:grpSpPr>
              <p:sp>
                <p:nvSpPr>
                  <p:cNvPr id="120" name="矩形 119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solidFill>
                    <a:schemeClr val="bg1">
                      <a:lumMod val="75000"/>
                    </a:schemeClr>
                  </a:solidFill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21" name="矩形 120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solidFill>
                    <a:schemeClr val="bg1">
                      <a:lumMod val="75000"/>
                    </a:schemeClr>
                  </a:solidFill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24" name="组合 123"/>
              <p:cNvGrpSpPr/>
              <p:nvPr/>
            </p:nvGrpSpPr>
            <p:grpSpPr>
              <a:xfrm rot="0">
                <a:off x="26141" y="55409"/>
                <a:ext cx="11063" cy="9221"/>
                <a:chOff x="26358" y="25111"/>
                <a:chExt cx="10668" cy="12728"/>
              </a:xfrm>
            </p:grpSpPr>
            <p:sp>
              <p:nvSpPr>
                <p:cNvPr id="125" name="文本框 124"/>
                <p:cNvSpPr txBox="1"/>
                <p:nvPr/>
              </p:nvSpPr>
              <p:spPr>
                <a:xfrm>
                  <a:off x="26358" y="25111"/>
                  <a:ext cx="10668" cy="2186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三轮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(1-1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26" name="矩形 125"/>
                <p:cNvSpPr/>
                <p:nvPr/>
              </p:nvSpPr>
              <p:spPr>
                <a:xfrm>
                  <a:off x="26358" y="27297"/>
                  <a:ext cx="10668" cy="10543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27" name="组合 126"/>
                <p:cNvGrpSpPr/>
                <p:nvPr/>
              </p:nvGrpSpPr>
              <p:grpSpPr>
                <a:xfrm rot="0">
                  <a:off x="27597" y="27974"/>
                  <a:ext cx="8190" cy="4137"/>
                  <a:chOff x="431" y="349"/>
                  <a:chExt cx="3918" cy="1789"/>
                </a:xfrm>
              </p:grpSpPr>
              <p:sp>
                <p:nvSpPr>
                  <p:cNvPr id="128" name="矩形 127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29" name="矩形 128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130" name="矩形 129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1" name="矩形 130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32" name="组合 131"/>
                <p:cNvGrpSpPr/>
                <p:nvPr/>
              </p:nvGrpSpPr>
              <p:grpSpPr>
                <a:xfrm rot="0">
                  <a:off x="27599" y="32909"/>
                  <a:ext cx="8190" cy="4137"/>
                  <a:chOff x="431" y="349"/>
                  <a:chExt cx="3918" cy="1789"/>
                </a:xfrm>
              </p:grpSpPr>
              <p:sp>
                <p:nvSpPr>
                  <p:cNvPr id="133" name="矩形 132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4" name="矩形 133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135" name="矩形 134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6" name="矩形 135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37" name="组合 136"/>
              <p:cNvGrpSpPr/>
              <p:nvPr/>
            </p:nvGrpSpPr>
            <p:grpSpPr>
              <a:xfrm rot="0">
                <a:off x="37922" y="57283"/>
                <a:ext cx="11063" cy="5829"/>
                <a:chOff x="37786" y="4819"/>
                <a:chExt cx="10668" cy="8046"/>
              </a:xfrm>
            </p:grpSpPr>
            <p:sp>
              <p:nvSpPr>
                <p:cNvPr id="138" name="文本框 137"/>
                <p:cNvSpPr txBox="1"/>
                <p:nvPr/>
              </p:nvSpPr>
              <p:spPr>
                <a:xfrm>
                  <a:off x="37786" y="4819"/>
                  <a:ext cx="10668" cy="2186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2-1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晋级队伍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39" name="矩形 138"/>
                <p:cNvSpPr/>
                <p:nvPr/>
              </p:nvSpPr>
              <p:spPr>
                <a:xfrm>
                  <a:off x="37786" y="7005"/>
                  <a:ext cx="10668" cy="586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40" name="组合 139"/>
                <p:cNvGrpSpPr/>
                <p:nvPr/>
              </p:nvGrpSpPr>
              <p:grpSpPr>
                <a:xfrm rot="0">
                  <a:off x="38774" y="7682"/>
                  <a:ext cx="8692" cy="4139"/>
                  <a:chOff x="431" y="349"/>
                  <a:chExt cx="3202" cy="1790"/>
                </a:xfrm>
              </p:grpSpPr>
              <p:sp>
                <p:nvSpPr>
                  <p:cNvPr id="141" name="矩形 140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42" name="矩形 141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</p:grpSp>
        <p:grpSp>
          <p:nvGrpSpPr>
            <p:cNvPr id="143" name="组合 142"/>
            <p:cNvGrpSpPr/>
            <p:nvPr/>
          </p:nvGrpSpPr>
          <p:grpSpPr>
            <a:xfrm rot="0">
              <a:off x="50142" y="47266"/>
              <a:ext cx="27918" cy="31261"/>
              <a:chOff x="14110" y="1022"/>
              <a:chExt cx="41334" cy="43538"/>
            </a:xfrm>
          </p:grpSpPr>
          <p:sp>
            <p:nvSpPr>
              <p:cNvPr id="144" name="矩形 143"/>
              <p:cNvSpPr/>
              <p:nvPr/>
            </p:nvSpPr>
            <p:spPr>
              <a:xfrm>
                <a:off x="14110" y="3899"/>
                <a:ext cx="41334" cy="406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sp>
            <p:nvSpPr>
              <p:cNvPr id="145" name="文本框 144"/>
              <p:cNvSpPr txBox="1"/>
              <p:nvPr/>
            </p:nvSpPr>
            <p:spPr>
              <a:xfrm>
                <a:off x="14110" y="1022"/>
                <a:ext cx="41334" cy="2877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4</a:t>
                </a:r>
                <a:r>
                  <a:rPr lang="zh-CN" alt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强淘汰赛</a:t>
                </a:r>
                <a:endPara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</p:grpSp>
        <p:grpSp>
          <p:nvGrpSpPr>
            <p:cNvPr id="96" name="组合 95"/>
            <p:cNvGrpSpPr/>
            <p:nvPr/>
          </p:nvGrpSpPr>
          <p:grpSpPr>
            <a:xfrm>
              <a:off x="51533" y="53258"/>
              <a:ext cx="25421" cy="21146"/>
              <a:chOff x="51531" y="53952"/>
              <a:chExt cx="25421" cy="11718"/>
            </a:xfrm>
          </p:grpSpPr>
          <p:sp>
            <p:nvSpPr>
              <p:cNvPr id="148" name="文本框 147"/>
              <p:cNvSpPr txBox="1"/>
              <p:nvPr/>
            </p:nvSpPr>
            <p:spPr>
              <a:xfrm>
                <a:off x="51531" y="53952"/>
                <a:ext cx="11063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一轮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(1-0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49" name="矩形 148"/>
              <p:cNvSpPr/>
              <p:nvPr/>
            </p:nvSpPr>
            <p:spPr>
              <a:xfrm>
                <a:off x="51531" y="55536"/>
                <a:ext cx="11063" cy="39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50" name="组合 149"/>
              <p:cNvGrpSpPr/>
              <p:nvPr/>
            </p:nvGrpSpPr>
            <p:grpSpPr>
              <a:xfrm rot="0">
                <a:off x="52816" y="56027"/>
                <a:ext cx="8494" cy="2997"/>
                <a:chOff x="431" y="349"/>
                <a:chExt cx="3918" cy="1789"/>
              </a:xfrm>
            </p:grpSpPr>
            <p:sp>
              <p:nvSpPr>
                <p:cNvPr id="151" name="矩形 150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2" name="矩形 151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153" name="矩形 152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4" name="矩形 153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70" name="组合 169"/>
              <p:cNvGrpSpPr/>
              <p:nvPr/>
            </p:nvGrpSpPr>
            <p:grpSpPr>
              <a:xfrm rot="0">
                <a:off x="51531" y="60098"/>
                <a:ext cx="11062" cy="5572"/>
                <a:chOff x="53765" y="17173"/>
                <a:chExt cx="9664" cy="5572"/>
              </a:xfrm>
            </p:grpSpPr>
            <p:sp>
              <p:nvSpPr>
                <p:cNvPr id="160" name="文本框 159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一轮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(0-1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61" name="矩形 160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62" name="组合 161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163" name="矩形 162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4" name="矩形 163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165" name="矩形 164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殿军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6" name="矩形 165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chemeClr val="tx1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71" name="组合 170"/>
              <p:cNvGrpSpPr/>
              <p:nvPr/>
            </p:nvGrpSpPr>
            <p:grpSpPr>
              <a:xfrm rot="0">
                <a:off x="63828" y="60098"/>
                <a:ext cx="13125" cy="5572"/>
                <a:chOff x="53765" y="17173"/>
                <a:chExt cx="9664" cy="5572"/>
              </a:xfrm>
            </p:grpSpPr>
            <p:sp>
              <p:nvSpPr>
                <p:cNvPr id="172" name="文本框 171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二轮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(1-1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73" name="矩形 172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74" name="组合 173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175" name="矩形 174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6" name="矩形 175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177" name="矩形 176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季军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accent1"/>
                        </a:solidFill>
                      </a:rPr>
                      <a:t>🥉</a:t>
                    </a:r>
                    <a:endParaRPr lang="zh-CN" altLang="en-US" sz="4550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178" name="矩形 177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89" name="组合 188"/>
              <p:cNvGrpSpPr/>
              <p:nvPr/>
            </p:nvGrpSpPr>
            <p:grpSpPr>
              <a:xfrm rot="0">
                <a:off x="63829" y="53952"/>
                <a:ext cx="13122" cy="5572"/>
                <a:chOff x="53765" y="17173"/>
                <a:chExt cx="9664" cy="5572"/>
              </a:xfrm>
            </p:grpSpPr>
            <p:sp>
              <p:nvSpPr>
                <p:cNvPr id="190" name="文本框 189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总决赛</a:t>
                  </a:r>
                  <a:endPara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91" name="矩形 190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92" name="组合 191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193" name="矩形 192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冠军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🏆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4" name="矩形 193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195" name="矩形 194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亚军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accent1"/>
                        </a:solidFill>
                      </a:rPr>
                      <a:t>🥈</a:t>
                    </a:r>
                    <a:endParaRPr lang="zh-CN" altLang="en-US" sz="4550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196" name="矩形 195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</p:grpSp>
        <p:sp>
          <p:nvSpPr>
            <p:cNvPr id="44" name="文本框 43"/>
            <p:cNvSpPr txBox="1"/>
            <p:nvPr/>
          </p:nvSpPr>
          <p:spPr>
            <a:xfrm>
              <a:off x="1588" y="43440"/>
              <a:ext cx="76473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HVV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S12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--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神将杯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1587" y="465"/>
              <a:ext cx="76473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HVV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S12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--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常规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队伍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  <p:grpSp>
          <p:nvGrpSpPr>
            <p:cNvPr id="198" name="组合 197"/>
            <p:cNvGrpSpPr/>
            <p:nvPr/>
          </p:nvGrpSpPr>
          <p:grpSpPr>
            <a:xfrm>
              <a:off x="1787" y="6646"/>
              <a:ext cx="40808" cy="17059"/>
              <a:chOff x="1787" y="4226"/>
              <a:chExt cx="40808" cy="19149"/>
            </a:xfrm>
          </p:grpSpPr>
          <p:grpSp>
            <p:nvGrpSpPr>
              <p:cNvPr id="8" name="组合 7"/>
              <p:cNvGrpSpPr/>
              <p:nvPr/>
            </p:nvGrpSpPr>
            <p:grpSpPr>
              <a:xfrm rot="0">
                <a:off x="2671" y="5186"/>
                <a:ext cx="7420" cy="3364"/>
                <a:chOff x="431" y="349"/>
                <a:chExt cx="3918" cy="1789"/>
              </a:xfrm>
            </p:grpSpPr>
            <p:sp>
              <p:nvSpPr>
                <p:cNvPr id="4" name="矩形 3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" name="矩形 4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6" name="矩形 5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 rot="0">
                <a:off x="2671" y="9877"/>
                <a:ext cx="7420" cy="3364"/>
                <a:chOff x="431" y="349"/>
                <a:chExt cx="3918" cy="1789"/>
              </a:xfrm>
            </p:grpSpPr>
            <p:sp>
              <p:nvSpPr>
                <p:cNvPr id="10" name="矩形 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" name="矩形 1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" name="矩形 1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" name="矩形 1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4" name="组合 13"/>
              <p:cNvGrpSpPr/>
              <p:nvPr/>
            </p:nvGrpSpPr>
            <p:grpSpPr>
              <a:xfrm rot="0">
                <a:off x="2671" y="14568"/>
                <a:ext cx="7420" cy="3364"/>
                <a:chOff x="431" y="349"/>
                <a:chExt cx="3918" cy="1789"/>
              </a:xfrm>
            </p:grpSpPr>
            <p:sp>
              <p:nvSpPr>
                <p:cNvPr id="15" name="矩形 1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矩形 1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矩形 16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矩形 17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 rot="0">
                <a:off x="2671" y="19259"/>
                <a:ext cx="7420" cy="3364"/>
                <a:chOff x="431" y="349"/>
                <a:chExt cx="3918" cy="1789"/>
              </a:xfrm>
            </p:grpSpPr>
            <p:sp>
              <p:nvSpPr>
                <p:cNvPr id="20" name="矩形 1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矩形 2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矩形 2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矩形 2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07" name="矩形 106"/>
              <p:cNvSpPr/>
              <p:nvPr/>
            </p:nvSpPr>
            <p:spPr>
              <a:xfrm>
                <a:off x="1787" y="4226"/>
                <a:ext cx="40808" cy="191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09" name="组合 108"/>
              <p:cNvGrpSpPr/>
              <p:nvPr/>
            </p:nvGrpSpPr>
            <p:grpSpPr>
              <a:xfrm rot="0">
                <a:off x="15772" y="7493"/>
                <a:ext cx="7420" cy="3364"/>
                <a:chOff x="431" y="349"/>
                <a:chExt cx="3918" cy="1789"/>
              </a:xfrm>
            </p:grpSpPr>
            <p:sp>
              <p:nvSpPr>
                <p:cNvPr id="110" name="矩形 10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1" name="矩形 11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2" name="矩形 11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3" name="矩形 11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14" name="组合 113"/>
              <p:cNvGrpSpPr/>
              <p:nvPr/>
            </p:nvGrpSpPr>
            <p:grpSpPr>
              <a:xfrm rot="0">
                <a:off x="15769" y="16734"/>
                <a:ext cx="7420" cy="3364"/>
                <a:chOff x="431" y="349"/>
                <a:chExt cx="3918" cy="1789"/>
              </a:xfrm>
            </p:grpSpPr>
            <p:sp>
              <p:nvSpPr>
                <p:cNvPr id="115" name="矩形 11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6" name="矩形 11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6" name="矩形 145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7" name="矩形 146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cxnSp>
            <p:nvCxnSpPr>
              <p:cNvPr id="155" name="肘形连接符 154"/>
              <p:cNvCxnSpPr>
                <a:stCxn id="21" idx="3"/>
                <a:endCxn id="146" idx="1"/>
              </p:cNvCxnSpPr>
              <p:nvPr/>
            </p:nvCxnSpPr>
            <p:spPr>
              <a:xfrm flipV="1">
                <a:off x="10093" y="19259"/>
                <a:ext cx="5676" cy="842"/>
              </a:xfrm>
              <a:prstGeom prst="bentConnector3">
                <a:avLst>
                  <a:gd name="adj1" fmla="val 50000"/>
                </a:avLst>
              </a:prstGeom>
              <a:ln w="412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7" name="肘形连接符 156"/>
              <p:cNvCxnSpPr>
                <a:stCxn id="16" idx="3"/>
                <a:endCxn id="115" idx="1"/>
              </p:cNvCxnSpPr>
              <p:nvPr/>
            </p:nvCxnSpPr>
            <p:spPr>
              <a:xfrm>
                <a:off x="10093" y="15410"/>
                <a:ext cx="5676" cy="2166"/>
              </a:xfrm>
              <a:prstGeom prst="bentConnector3">
                <a:avLst>
                  <a:gd name="adj1" fmla="val 50000"/>
                </a:avLst>
              </a:prstGeom>
              <a:ln w="412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8" name="肘形连接符 157"/>
              <p:cNvCxnSpPr>
                <a:stCxn id="5" idx="3"/>
                <a:endCxn id="110" idx="1"/>
              </p:cNvCxnSpPr>
              <p:nvPr/>
            </p:nvCxnSpPr>
            <p:spPr>
              <a:xfrm>
                <a:off x="10093" y="6028"/>
                <a:ext cx="5679" cy="2307"/>
              </a:xfrm>
              <a:prstGeom prst="bentConnector3">
                <a:avLst>
                  <a:gd name="adj1" fmla="val 50009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9" name="肘形连接符 158"/>
              <p:cNvCxnSpPr>
                <a:stCxn id="11" idx="3"/>
                <a:endCxn id="112" idx="1"/>
              </p:cNvCxnSpPr>
              <p:nvPr/>
            </p:nvCxnSpPr>
            <p:spPr>
              <a:xfrm flipV="1">
                <a:off x="10093" y="10017"/>
                <a:ext cx="5679" cy="702"/>
              </a:xfrm>
              <a:prstGeom prst="bentConnector3">
                <a:avLst>
                  <a:gd name="adj1" fmla="val 50009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81" name="肘形连接符 180"/>
              <p:cNvCxnSpPr>
                <a:stCxn id="111" idx="3"/>
                <a:endCxn id="187" idx="1"/>
              </p:cNvCxnSpPr>
              <p:nvPr/>
            </p:nvCxnSpPr>
            <p:spPr>
              <a:xfrm>
                <a:off x="23194" y="8334"/>
                <a:ext cx="8287" cy="4449"/>
              </a:xfrm>
              <a:prstGeom prst="bentConnector3">
                <a:avLst>
                  <a:gd name="adj1" fmla="val 50006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82" name="肘形连接符 181"/>
              <p:cNvCxnSpPr>
                <a:stCxn id="116" idx="3"/>
                <a:endCxn id="188" idx="1"/>
              </p:cNvCxnSpPr>
              <p:nvPr/>
            </p:nvCxnSpPr>
            <p:spPr>
              <a:xfrm flipV="1">
                <a:off x="23191" y="14698"/>
                <a:ext cx="8290" cy="2878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85" name="文本框 184"/>
              <p:cNvSpPr txBox="1"/>
              <p:nvPr/>
            </p:nvSpPr>
            <p:spPr>
              <a:xfrm>
                <a:off x="30130" y="9176"/>
                <a:ext cx="10636" cy="2023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四强晋级队伍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-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上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半区</a:t>
                </a:r>
                <a:endPara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86" name="矩形 185"/>
              <p:cNvSpPr/>
              <p:nvPr/>
            </p:nvSpPr>
            <p:spPr>
              <a:xfrm>
                <a:off x="30130" y="11199"/>
                <a:ext cx="10636" cy="542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sp>
            <p:nvSpPr>
              <p:cNvPr id="187" name="矩形 186"/>
              <p:cNvSpPr/>
              <p:nvPr/>
            </p:nvSpPr>
            <p:spPr>
              <a:xfrm>
                <a:off x="31481" y="11825"/>
                <a:ext cx="7048" cy="1915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8" name="矩形 187"/>
              <p:cNvSpPr/>
              <p:nvPr/>
            </p:nvSpPr>
            <p:spPr>
              <a:xfrm>
                <a:off x="31481" y="13740"/>
                <a:ext cx="7048" cy="1915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99" name="组合 198"/>
            <p:cNvGrpSpPr/>
            <p:nvPr/>
          </p:nvGrpSpPr>
          <p:grpSpPr>
            <a:xfrm>
              <a:off x="1787" y="24304"/>
              <a:ext cx="40808" cy="18430"/>
              <a:chOff x="1787" y="4226"/>
              <a:chExt cx="40808" cy="19149"/>
            </a:xfrm>
          </p:grpSpPr>
          <p:grpSp>
            <p:nvGrpSpPr>
              <p:cNvPr id="200" name="组合 199"/>
              <p:cNvGrpSpPr/>
              <p:nvPr/>
            </p:nvGrpSpPr>
            <p:grpSpPr>
              <a:xfrm rot="0">
                <a:off x="2671" y="5186"/>
                <a:ext cx="7420" cy="3364"/>
                <a:chOff x="431" y="349"/>
                <a:chExt cx="3918" cy="1789"/>
              </a:xfrm>
            </p:grpSpPr>
            <p:sp>
              <p:nvSpPr>
                <p:cNvPr id="201" name="矩形 200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2" name="矩形 201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03" name="矩形 202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4" name="矩形 203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05" name="组合 204"/>
              <p:cNvGrpSpPr/>
              <p:nvPr/>
            </p:nvGrpSpPr>
            <p:grpSpPr>
              <a:xfrm rot="0">
                <a:off x="2671" y="9877"/>
                <a:ext cx="7420" cy="3364"/>
                <a:chOff x="431" y="349"/>
                <a:chExt cx="3918" cy="1789"/>
              </a:xfrm>
            </p:grpSpPr>
            <p:sp>
              <p:nvSpPr>
                <p:cNvPr id="206" name="矩形 20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7" name="矩形 206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8" name="矩形 20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9" name="矩形 208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210" name="组合 209"/>
              <p:cNvGrpSpPr/>
              <p:nvPr/>
            </p:nvGrpSpPr>
            <p:grpSpPr>
              <a:xfrm rot="0">
                <a:off x="2671" y="14568"/>
                <a:ext cx="7420" cy="3364"/>
                <a:chOff x="431" y="349"/>
                <a:chExt cx="3918" cy="1789"/>
              </a:xfrm>
            </p:grpSpPr>
            <p:sp>
              <p:nvSpPr>
                <p:cNvPr id="211" name="矩形 210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2" name="矩形 211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矩形 212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矩形 213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215" name="组合 214"/>
              <p:cNvGrpSpPr/>
              <p:nvPr/>
            </p:nvGrpSpPr>
            <p:grpSpPr>
              <a:xfrm rot="0">
                <a:off x="2671" y="19259"/>
                <a:ext cx="7420" cy="3364"/>
                <a:chOff x="431" y="349"/>
                <a:chExt cx="3918" cy="1789"/>
              </a:xfrm>
            </p:grpSpPr>
            <p:sp>
              <p:nvSpPr>
                <p:cNvPr id="216" name="矩形 21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" name="矩形 216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8" name="矩形 21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9" name="矩形 218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220" name="矩形 219"/>
              <p:cNvSpPr/>
              <p:nvPr/>
            </p:nvSpPr>
            <p:spPr>
              <a:xfrm>
                <a:off x="1787" y="4226"/>
                <a:ext cx="40808" cy="191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21" name="组合 220"/>
              <p:cNvGrpSpPr/>
              <p:nvPr/>
            </p:nvGrpSpPr>
            <p:grpSpPr>
              <a:xfrm rot="0">
                <a:off x="15772" y="7493"/>
                <a:ext cx="7420" cy="3364"/>
                <a:chOff x="431" y="349"/>
                <a:chExt cx="3918" cy="1789"/>
              </a:xfrm>
            </p:grpSpPr>
            <p:sp>
              <p:nvSpPr>
                <p:cNvPr id="222" name="矩形 221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矩形 222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4" name="矩形 223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5" name="矩形 224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226" name="组合 225"/>
              <p:cNvGrpSpPr/>
              <p:nvPr/>
            </p:nvGrpSpPr>
            <p:grpSpPr>
              <a:xfrm rot="0">
                <a:off x="15769" y="16734"/>
                <a:ext cx="7420" cy="3364"/>
                <a:chOff x="431" y="349"/>
                <a:chExt cx="3918" cy="1789"/>
              </a:xfrm>
            </p:grpSpPr>
            <p:sp>
              <p:nvSpPr>
                <p:cNvPr id="227" name="矩形 226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矩形 227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9" name="矩形 228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0" name="矩形 229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cxnSp>
            <p:nvCxnSpPr>
              <p:cNvPr id="231" name="肘形连接符 230"/>
              <p:cNvCxnSpPr>
                <a:stCxn id="217" idx="3"/>
                <a:endCxn id="229" idx="1"/>
              </p:cNvCxnSpPr>
              <p:nvPr/>
            </p:nvCxnSpPr>
            <p:spPr>
              <a:xfrm flipV="1">
                <a:off x="10093" y="19259"/>
                <a:ext cx="5676" cy="842"/>
              </a:xfrm>
              <a:prstGeom prst="bentConnector3">
                <a:avLst>
                  <a:gd name="adj1" fmla="val 50000"/>
                </a:avLst>
              </a:prstGeom>
              <a:ln w="412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2" name="肘形连接符 231"/>
              <p:cNvCxnSpPr>
                <a:stCxn id="212" idx="3"/>
                <a:endCxn id="227" idx="1"/>
              </p:cNvCxnSpPr>
              <p:nvPr/>
            </p:nvCxnSpPr>
            <p:spPr>
              <a:xfrm>
                <a:off x="10093" y="15410"/>
                <a:ext cx="5676" cy="2166"/>
              </a:xfrm>
              <a:prstGeom prst="bentConnector3">
                <a:avLst>
                  <a:gd name="adj1" fmla="val 50000"/>
                </a:avLst>
              </a:prstGeom>
              <a:ln w="412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3" name="肘形连接符 232"/>
              <p:cNvCxnSpPr>
                <a:stCxn id="202" idx="3"/>
                <a:endCxn id="222" idx="1"/>
              </p:cNvCxnSpPr>
              <p:nvPr/>
            </p:nvCxnSpPr>
            <p:spPr>
              <a:xfrm>
                <a:off x="10093" y="6028"/>
                <a:ext cx="5679" cy="2307"/>
              </a:xfrm>
              <a:prstGeom prst="bentConnector3">
                <a:avLst>
                  <a:gd name="adj1" fmla="val 50009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4" name="肘形连接符 233"/>
              <p:cNvCxnSpPr>
                <a:stCxn id="207" idx="3"/>
                <a:endCxn id="224" idx="1"/>
              </p:cNvCxnSpPr>
              <p:nvPr/>
            </p:nvCxnSpPr>
            <p:spPr>
              <a:xfrm flipV="1">
                <a:off x="10093" y="10017"/>
                <a:ext cx="5679" cy="702"/>
              </a:xfrm>
              <a:prstGeom prst="bentConnector3">
                <a:avLst>
                  <a:gd name="adj1" fmla="val 50009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5" name="肘形连接符 234"/>
              <p:cNvCxnSpPr>
                <a:stCxn id="223" idx="3"/>
                <a:endCxn id="239" idx="1"/>
              </p:cNvCxnSpPr>
              <p:nvPr/>
            </p:nvCxnSpPr>
            <p:spPr>
              <a:xfrm>
                <a:off x="23194" y="8334"/>
                <a:ext cx="8287" cy="4449"/>
              </a:xfrm>
              <a:prstGeom prst="bentConnector3">
                <a:avLst>
                  <a:gd name="adj1" fmla="val 50006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6" name="肘形连接符 235"/>
              <p:cNvCxnSpPr>
                <a:stCxn id="228" idx="3"/>
                <a:endCxn id="240" idx="1"/>
              </p:cNvCxnSpPr>
              <p:nvPr/>
            </p:nvCxnSpPr>
            <p:spPr>
              <a:xfrm flipV="1">
                <a:off x="23191" y="14698"/>
                <a:ext cx="8290" cy="2877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237" name="文本框 236"/>
              <p:cNvSpPr txBox="1"/>
              <p:nvPr/>
            </p:nvSpPr>
            <p:spPr>
              <a:xfrm>
                <a:off x="30130" y="9176"/>
                <a:ext cx="10636" cy="2023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四强晋级队伍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-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下半区</a:t>
                </a:r>
                <a:endPara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38" name="矩形 237"/>
              <p:cNvSpPr/>
              <p:nvPr/>
            </p:nvSpPr>
            <p:spPr>
              <a:xfrm>
                <a:off x="30130" y="11199"/>
                <a:ext cx="10636" cy="542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sp>
            <p:nvSpPr>
              <p:cNvPr id="239" name="矩形 238"/>
              <p:cNvSpPr/>
              <p:nvPr/>
            </p:nvSpPr>
            <p:spPr>
              <a:xfrm>
                <a:off x="31481" y="11825"/>
                <a:ext cx="7047" cy="1915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0" name="矩形 239"/>
              <p:cNvSpPr/>
              <p:nvPr/>
            </p:nvSpPr>
            <p:spPr>
              <a:xfrm>
                <a:off x="31481" y="13740"/>
                <a:ext cx="7047" cy="1915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1" name="文本框 240"/>
            <p:cNvSpPr txBox="1"/>
            <p:nvPr/>
          </p:nvSpPr>
          <p:spPr>
            <a:xfrm>
              <a:off x="1787" y="4166"/>
              <a:ext cx="40809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进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2" name="文本框 241"/>
            <p:cNvSpPr txBox="1"/>
            <p:nvPr/>
          </p:nvSpPr>
          <p:spPr>
            <a:xfrm>
              <a:off x="44114" y="4166"/>
              <a:ext cx="33945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强淘汰赛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3" name="矩形 242"/>
            <p:cNvSpPr/>
            <p:nvPr/>
          </p:nvSpPr>
          <p:spPr>
            <a:xfrm>
              <a:off x="44114" y="6682"/>
              <a:ext cx="33945" cy="36052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44" name="组合 243"/>
            <p:cNvGrpSpPr/>
            <p:nvPr/>
          </p:nvGrpSpPr>
          <p:grpSpPr>
            <a:xfrm>
              <a:off x="45282" y="10856"/>
              <a:ext cx="30739" cy="27917"/>
              <a:chOff x="51531" y="53952"/>
              <a:chExt cx="25421" cy="11718"/>
            </a:xfrm>
          </p:grpSpPr>
          <p:sp>
            <p:nvSpPr>
              <p:cNvPr id="245" name="文本框 244"/>
              <p:cNvSpPr txBox="1"/>
              <p:nvPr/>
            </p:nvSpPr>
            <p:spPr>
              <a:xfrm>
                <a:off x="51531" y="53952"/>
                <a:ext cx="11063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一轮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(1-0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46" name="矩形 245"/>
              <p:cNvSpPr/>
              <p:nvPr/>
            </p:nvSpPr>
            <p:spPr>
              <a:xfrm>
                <a:off x="51531" y="55536"/>
                <a:ext cx="11063" cy="39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47" name="组合 246"/>
              <p:cNvGrpSpPr/>
              <p:nvPr/>
            </p:nvGrpSpPr>
            <p:grpSpPr>
              <a:xfrm rot="0">
                <a:off x="52816" y="56027"/>
                <a:ext cx="8494" cy="2997"/>
                <a:chOff x="431" y="349"/>
                <a:chExt cx="3918" cy="1789"/>
              </a:xfrm>
            </p:grpSpPr>
            <p:sp>
              <p:nvSpPr>
                <p:cNvPr id="248" name="矩形 247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9" name="矩形 248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50" name="矩形 249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1" name="矩形 250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52" name="组合 251"/>
              <p:cNvGrpSpPr/>
              <p:nvPr/>
            </p:nvGrpSpPr>
            <p:grpSpPr>
              <a:xfrm rot="0">
                <a:off x="51531" y="60098"/>
                <a:ext cx="11062" cy="5572"/>
                <a:chOff x="53765" y="17173"/>
                <a:chExt cx="9664" cy="5572"/>
              </a:xfrm>
            </p:grpSpPr>
            <p:sp>
              <p:nvSpPr>
                <p:cNvPr id="253" name="文本框 252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一轮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(0-1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254" name="矩形 253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255" name="组合 254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256" name="矩形 255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7" name="矩形 256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258" name="矩形 257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殿军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9" name="矩形 258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260" name="组合 259"/>
              <p:cNvGrpSpPr/>
              <p:nvPr/>
            </p:nvGrpSpPr>
            <p:grpSpPr>
              <a:xfrm rot="0">
                <a:off x="63828" y="60098"/>
                <a:ext cx="13125" cy="5572"/>
                <a:chOff x="53765" y="17173"/>
                <a:chExt cx="9664" cy="5572"/>
              </a:xfrm>
            </p:grpSpPr>
            <p:sp>
              <p:nvSpPr>
                <p:cNvPr id="261" name="文本框 260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二轮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(1-1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262" name="矩形 261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263" name="组合 262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264" name="矩形 263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5" name="矩形 264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266" name="矩形 265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季军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accent1"/>
                        </a:solidFill>
                      </a:rPr>
                      <a:t>🥉</a:t>
                    </a:r>
                    <a:endParaRPr lang="zh-CN" altLang="en-US" sz="4550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267" name="矩形 266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268" name="组合 267"/>
              <p:cNvGrpSpPr/>
              <p:nvPr/>
            </p:nvGrpSpPr>
            <p:grpSpPr>
              <a:xfrm rot="0">
                <a:off x="63829" y="53952"/>
                <a:ext cx="13122" cy="5572"/>
                <a:chOff x="53765" y="17173"/>
                <a:chExt cx="9664" cy="5572"/>
              </a:xfrm>
            </p:grpSpPr>
            <p:sp>
              <p:nvSpPr>
                <p:cNvPr id="269" name="文本框 268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总决赛</a:t>
                  </a:r>
                  <a:endPara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270" name="矩形 269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271" name="组合 270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272" name="矩形 271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冠军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🏆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3" name="矩形 272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274" name="矩形 273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亚军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accent1"/>
                        </a:solidFill>
                      </a:rPr>
                      <a:t>🥈</a:t>
                    </a:r>
                    <a:endParaRPr lang="zh-CN" altLang="en-US" sz="4550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275" name="矩形 274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</p:grpSp>
      </p:grpSp>
      <p:sp>
        <p:nvSpPr>
          <p:cNvPr id="3" name="矩形 2"/>
          <p:cNvSpPr/>
          <p:nvPr/>
        </p:nvSpPr>
        <p:spPr>
          <a:xfrm>
            <a:off x="24465280" y="8519160"/>
            <a:ext cx="862330" cy="108267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4465915" y="9594850"/>
            <a:ext cx="862330" cy="109029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24465915" y="20077430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24465280" y="21247735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429</Words>
  <Application>WPS 演示</Application>
  <PresentationFormat>宽屏</PresentationFormat>
  <Paragraphs>280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40</cp:revision>
  <dcterms:created xsi:type="dcterms:W3CDTF">2023-08-09T12:44:00Z</dcterms:created>
  <dcterms:modified xsi:type="dcterms:W3CDTF">2026-03-27T17:18:17Z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2052-12.1.0.25835</vt:lpwstr>
  </property>
  <property fmtid="{D5CDD505-2E9C-101B-9397-08002B2CF9AE}" pid="3" name="ICV">
    <vt:lpwstr>EC36D588B10B4BAFB362F4820491652F_12</vt:lpwstr>
  </property>
</Properties>
</file>