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51198780" cy="5119878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26" userDrawn="1">
          <p15:clr>
            <a:srgbClr val="A4A3A4"/>
          </p15:clr>
        </p15:guide>
        <p15:guide id="2" pos="161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6126"/>
        <p:guide pos="161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400210" y="8379767"/>
            <a:ext cx="38401259" cy="17826257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400210" y="26893472"/>
            <a:ext cx="38401259" cy="12362221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5"/>
            </a:lvl3pPr>
            <a:lvl4pPr marL="7680960" indent="0" algn="ctr">
              <a:buNone/>
              <a:defRPr sz="8960"/>
            </a:lvl4pPr>
            <a:lvl5pPr marL="10239375" indent="0" algn="ctr">
              <a:buNone/>
              <a:defRPr sz="8960"/>
            </a:lvl5pPr>
            <a:lvl6pPr marL="12799695" indent="0" algn="ctr">
              <a:buNone/>
              <a:defRPr sz="8960"/>
            </a:lvl6pPr>
            <a:lvl7pPr marL="15360015" indent="0" algn="ctr">
              <a:buNone/>
              <a:defRPr sz="8960"/>
            </a:lvl7pPr>
            <a:lvl8pPr marL="17921605" indent="0" algn="ctr">
              <a:buNone/>
              <a:defRPr sz="8960"/>
            </a:lvl8pPr>
            <a:lvl9pPr marL="20481925" indent="0" algn="ctr">
              <a:buNone/>
              <a:defRPr sz="896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3448" y="12765215"/>
            <a:ext cx="44161447" cy="21299054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93448" y="34265767"/>
            <a:ext cx="44161447" cy="11200669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75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75000"/>
                  </a:schemeClr>
                </a:solidFill>
              </a:defRPr>
            </a:lvl2pPr>
            <a:lvl3pPr marL="5120640" indent="0">
              <a:buNone/>
              <a:defRPr sz="10085">
                <a:solidFill>
                  <a:schemeClr val="tx1">
                    <a:tint val="75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4pPr>
            <a:lvl5pPr marL="1023937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5pPr>
            <a:lvl6pPr marL="1279969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6pPr>
            <a:lvl7pPr marL="1536001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7pPr>
            <a:lvl8pPr marL="1792160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8pPr>
            <a:lvl9pPr marL="2048192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520115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5920850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2726090"/>
            <a:ext cx="44161447" cy="989689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6784" y="12551869"/>
            <a:ext cx="21660708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26784" y="18703346"/>
            <a:ext cx="21660708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25920850" y="12551869"/>
            <a:ext cx="21767382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25920850" y="18703346"/>
            <a:ext cx="21767382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39375" indent="0">
              <a:buNone/>
              <a:defRPr sz="11200"/>
            </a:lvl5pPr>
            <a:lvl6pPr marL="12799695" indent="0">
              <a:buNone/>
              <a:defRPr sz="11200"/>
            </a:lvl6pPr>
            <a:lvl7pPr marL="15360015" indent="0">
              <a:buNone/>
              <a:defRPr sz="11200"/>
            </a:lvl7pPr>
            <a:lvl8pPr marL="17921605" indent="0">
              <a:buNone/>
              <a:defRPr sz="11200"/>
            </a:lvl8pPr>
            <a:lvl9pPr marL="20481925" indent="0">
              <a:buNone/>
              <a:defRPr sz="112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6641201" y="2726090"/>
            <a:ext cx="11040362" cy="43392241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520115" y="2726090"/>
            <a:ext cx="32481065" cy="43392241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520115" y="2726090"/>
            <a:ext cx="44161447" cy="98968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0115" y="13630449"/>
            <a:ext cx="44161447" cy="3248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352011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6960556" y="47457667"/>
            <a:ext cx="17280566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616118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795" indent="-1280795" algn="l" defTabSz="5120640" rtl="0" eaLnBrk="1" latinLnBrk="0" hangingPunct="1">
        <a:lnSpc>
          <a:spcPct val="90000"/>
        </a:lnSpc>
        <a:spcBef>
          <a:spcPts val="561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111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143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75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152017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408049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664081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920113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176145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023937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279969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536001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792160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048192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5" name="组合 24"/>
          <p:cNvGrpSpPr/>
          <p:nvPr/>
        </p:nvGrpSpPr>
        <p:grpSpPr>
          <a:xfrm>
            <a:off x="1007745" y="295275"/>
            <a:ext cx="82944335" cy="26840815"/>
            <a:chOff x="1587" y="465"/>
            <a:chExt cx="130621" cy="42269"/>
          </a:xfrm>
        </p:grpSpPr>
        <p:sp>
          <p:nvSpPr>
            <p:cNvPr id="98" name="矩形 97"/>
            <p:cNvSpPr/>
            <p:nvPr/>
          </p:nvSpPr>
          <p:spPr>
            <a:xfrm>
              <a:off x="79437" y="6740"/>
              <a:ext cx="52771" cy="3599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79437" y="4193"/>
              <a:ext cx="52771" cy="2547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4" name="文本框 43"/>
            <p:cNvSpPr txBox="1"/>
            <p:nvPr/>
          </p:nvSpPr>
          <p:spPr>
            <a:xfrm>
              <a:off x="79438" y="465"/>
              <a:ext cx="52771" cy="3001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HVV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杯英雄联盟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S12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淘汰赛赛程图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--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神将杯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7" name="文本框 96"/>
            <p:cNvSpPr txBox="1"/>
            <p:nvPr/>
          </p:nvSpPr>
          <p:spPr>
            <a:xfrm>
              <a:off x="1587" y="465"/>
              <a:ext cx="76473" cy="3001"/>
            </a:xfrm>
            <a:prstGeom prst="rect">
              <a:avLst/>
            </a:prstGeom>
            <a:solidFill>
              <a:schemeClr val="tx2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HVV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杯英雄联盟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S12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淘汰赛赛程图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--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常规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+mn-ea"/>
                </a:rPr>
                <a:t>队伍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endParaRPr>
            </a:p>
          </p:txBody>
        </p:sp>
        <p:grpSp>
          <p:nvGrpSpPr>
            <p:cNvPr id="8" name="组合 7"/>
            <p:cNvGrpSpPr/>
            <p:nvPr/>
          </p:nvGrpSpPr>
          <p:grpSpPr>
            <a:xfrm rot="0">
              <a:off x="2671" y="7501"/>
              <a:ext cx="7420" cy="2997"/>
              <a:chOff x="431" y="349"/>
              <a:chExt cx="3918" cy="1789"/>
            </a:xfrm>
          </p:grpSpPr>
          <p:sp>
            <p:nvSpPr>
              <p:cNvPr id="4" name="矩形 3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潇甜甜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(A1)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5" name="矩形 4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6" name="矩形 5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全妹班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(D4)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矩形 6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 rot="0">
              <a:off x="2671" y="11680"/>
              <a:ext cx="7420" cy="2997"/>
              <a:chOff x="431" y="349"/>
              <a:chExt cx="3918" cy="1789"/>
            </a:xfrm>
          </p:grpSpPr>
          <p:sp>
            <p:nvSpPr>
              <p:cNvPr id="10" name="矩形 9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就折水平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(B2)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矩形 10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12" name="矩形 11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2800" b="1">
                    <a:solidFill>
                      <a:schemeClr val="tx1"/>
                    </a:solidFill>
                  </a:rPr>
                  <a:t>ikun</a:t>
                </a:r>
                <a:r>
                  <a:rPr lang="ja-JP" altLang="en-US" sz="2800" b="1">
                    <a:solidFill>
                      <a:schemeClr val="tx1"/>
                    </a:solidFill>
                  </a:rPr>
                  <a:t>の</a:t>
                </a:r>
                <a:r>
                  <a:rPr lang="zh-CN" altLang="en-US" sz="2800" b="1">
                    <a:solidFill>
                      <a:schemeClr val="tx1"/>
                    </a:solidFill>
                  </a:rPr>
                  <a:t>四区兄弟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(C3)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矩形 12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14" name="组合 13"/>
            <p:cNvGrpSpPr/>
            <p:nvPr/>
          </p:nvGrpSpPr>
          <p:grpSpPr>
            <a:xfrm rot="0">
              <a:off x="2671" y="15859"/>
              <a:ext cx="7420" cy="2997"/>
              <a:chOff x="431" y="349"/>
              <a:chExt cx="3918" cy="1789"/>
            </a:xfrm>
          </p:grpSpPr>
          <p:sp>
            <p:nvSpPr>
              <p:cNvPr id="15" name="矩形 14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咕咕嘎嘎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(D1)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矩形 1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17" name="矩形 1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2800" b="1">
                    <a:solidFill>
                      <a:schemeClr val="tx1"/>
                    </a:solidFill>
                  </a:rPr>
                  <a:t>IKUN(A4)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矩形 17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19" name="组合 18"/>
            <p:cNvGrpSpPr/>
            <p:nvPr/>
          </p:nvGrpSpPr>
          <p:grpSpPr>
            <a:xfrm rot="0">
              <a:off x="2671" y="20038"/>
              <a:ext cx="7420" cy="2997"/>
              <a:chOff x="431" y="349"/>
              <a:chExt cx="3918" cy="1789"/>
            </a:xfrm>
          </p:grpSpPr>
          <p:sp>
            <p:nvSpPr>
              <p:cNvPr id="20" name="矩形 19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牢王来了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(C2)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矩形 20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2" name="矩形 21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外卖到了先别开团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(B3)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矩形 22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</p:grpSp>
        <p:sp>
          <p:nvSpPr>
            <p:cNvPr id="107" name="矩形 106"/>
            <p:cNvSpPr/>
            <p:nvPr/>
          </p:nvSpPr>
          <p:spPr>
            <a:xfrm>
              <a:off x="1787" y="6646"/>
              <a:ext cx="40808" cy="17059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109" name="组合 108"/>
            <p:cNvGrpSpPr/>
            <p:nvPr/>
          </p:nvGrpSpPr>
          <p:grpSpPr>
            <a:xfrm rot="0">
              <a:off x="15772" y="9556"/>
              <a:ext cx="7420" cy="2997"/>
              <a:chOff x="431" y="349"/>
              <a:chExt cx="3918" cy="1789"/>
            </a:xfrm>
          </p:grpSpPr>
          <p:sp>
            <p:nvSpPr>
              <p:cNvPr id="110" name="矩形 109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11" name="矩形 110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12" name="矩形 111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13" name="矩形 112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114" name="组合 113"/>
            <p:cNvGrpSpPr/>
            <p:nvPr/>
          </p:nvGrpSpPr>
          <p:grpSpPr>
            <a:xfrm rot="0">
              <a:off x="15769" y="17789"/>
              <a:ext cx="7420" cy="2997"/>
              <a:chOff x="431" y="349"/>
              <a:chExt cx="3918" cy="1789"/>
            </a:xfrm>
          </p:grpSpPr>
          <p:sp>
            <p:nvSpPr>
              <p:cNvPr id="115" name="矩形 114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16" name="矩形 11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46" name="矩形 145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147" name="矩形 146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cxnSp>
          <p:nvCxnSpPr>
            <p:cNvPr id="155" name="肘形连接符 154"/>
            <p:cNvCxnSpPr>
              <a:stCxn id="21" idx="3"/>
              <a:endCxn id="146" idx="1"/>
            </p:cNvCxnSpPr>
            <p:nvPr/>
          </p:nvCxnSpPr>
          <p:spPr>
            <a:xfrm flipV="1">
              <a:off x="10093" y="20038"/>
              <a:ext cx="5676" cy="750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7" name="肘形连接符 156"/>
            <p:cNvCxnSpPr>
              <a:stCxn id="16" idx="3"/>
              <a:endCxn id="115" idx="1"/>
            </p:cNvCxnSpPr>
            <p:nvPr/>
          </p:nvCxnSpPr>
          <p:spPr>
            <a:xfrm>
              <a:off x="10093" y="16609"/>
              <a:ext cx="5676" cy="1930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8" name="肘形连接符 157"/>
            <p:cNvCxnSpPr>
              <a:stCxn id="5" idx="3"/>
              <a:endCxn id="110" idx="1"/>
            </p:cNvCxnSpPr>
            <p:nvPr/>
          </p:nvCxnSpPr>
          <p:spPr>
            <a:xfrm>
              <a:off x="10093" y="8251"/>
              <a:ext cx="5679" cy="2055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59" name="肘形连接符 158"/>
            <p:cNvCxnSpPr>
              <a:stCxn id="11" idx="3"/>
              <a:endCxn id="112" idx="1"/>
            </p:cNvCxnSpPr>
            <p:nvPr/>
          </p:nvCxnSpPr>
          <p:spPr>
            <a:xfrm flipV="1">
              <a:off x="10093" y="11805"/>
              <a:ext cx="5679" cy="625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1" name="肘形连接符 180"/>
            <p:cNvCxnSpPr>
              <a:stCxn id="111" idx="3"/>
              <a:endCxn id="187" idx="1"/>
            </p:cNvCxnSpPr>
            <p:nvPr/>
          </p:nvCxnSpPr>
          <p:spPr>
            <a:xfrm>
              <a:off x="23194" y="10306"/>
              <a:ext cx="8287" cy="3963"/>
            </a:xfrm>
            <a:prstGeom prst="bentConnector3">
              <a:avLst>
                <a:gd name="adj1" fmla="val 5000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182" name="肘形连接符 181"/>
            <p:cNvCxnSpPr>
              <a:stCxn id="116" idx="3"/>
              <a:endCxn id="188" idx="1"/>
            </p:cNvCxnSpPr>
            <p:nvPr/>
          </p:nvCxnSpPr>
          <p:spPr>
            <a:xfrm flipV="1">
              <a:off x="23191" y="15975"/>
              <a:ext cx="8290" cy="2564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85" name="文本框 184"/>
            <p:cNvSpPr txBox="1"/>
            <p:nvPr/>
          </p:nvSpPr>
          <p:spPr>
            <a:xfrm>
              <a:off x="30130" y="11056"/>
              <a:ext cx="10636" cy="180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四强晋级队伍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-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上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半区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86" name="矩形 185"/>
            <p:cNvSpPr/>
            <p:nvPr/>
          </p:nvSpPr>
          <p:spPr>
            <a:xfrm>
              <a:off x="30130" y="12858"/>
              <a:ext cx="10636" cy="4832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187" name="矩形 186"/>
            <p:cNvSpPr/>
            <p:nvPr/>
          </p:nvSpPr>
          <p:spPr>
            <a:xfrm>
              <a:off x="31481" y="13416"/>
              <a:ext cx="6967" cy="170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188" name="矩形 187"/>
            <p:cNvSpPr/>
            <p:nvPr/>
          </p:nvSpPr>
          <p:spPr>
            <a:xfrm>
              <a:off x="31481" y="15122"/>
              <a:ext cx="6967" cy="1706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grpSp>
          <p:nvGrpSpPr>
            <p:cNvPr id="200" name="组合 199"/>
            <p:cNvGrpSpPr/>
            <p:nvPr/>
          </p:nvGrpSpPr>
          <p:grpSpPr>
            <a:xfrm rot="0">
              <a:off x="2671" y="25228"/>
              <a:ext cx="7420" cy="3238"/>
              <a:chOff x="431" y="349"/>
              <a:chExt cx="3918" cy="1789"/>
            </a:xfrm>
          </p:grpSpPr>
          <p:sp>
            <p:nvSpPr>
              <p:cNvPr id="201" name="矩形 200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飞行淇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(C1)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矩形 20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3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03" name="矩形 202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2800" b="1">
                    <a:solidFill>
                      <a:schemeClr val="tx1"/>
                    </a:solidFill>
                  </a:rPr>
                  <a:t>WBD(B4)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矩形 203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6000" b="1">
                    <a:solidFill>
                      <a:srgbClr val="0070C0"/>
                    </a:solidFill>
                  </a:rPr>
                  <a:t>0</a:t>
                </a:r>
                <a:endParaRPr lang="en-US" sz="60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05" name="组合 204"/>
            <p:cNvGrpSpPr/>
            <p:nvPr/>
          </p:nvGrpSpPr>
          <p:grpSpPr>
            <a:xfrm rot="0">
              <a:off x="2671" y="29743"/>
              <a:ext cx="7420" cy="3238"/>
              <a:chOff x="431" y="349"/>
              <a:chExt cx="3918" cy="1789"/>
            </a:xfrm>
          </p:grpSpPr>
          <p:sp>
            <p:nvSpPr>
              <p:cNvPr id="206" name="矩形 205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大董无敌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(A2)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7" name="矩形 206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08" name="矩形 207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卡了电竞魔王护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(D3)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9" name="矩形 208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10" name="组合 209"/>
            <p:cNvGrpSpPr/>
            <p:nvPr/>
          </p:nvGrpSpPr>
          <p:grpSpPr>
            <a:xfrm rot="0">
              <a:off x="2671" y="34258"/>
              <a:ext cx="7420" cy="3238"/>
              <a:chOff x="431" y="349"/>
              <a:chExt cx="3918" cy="1789"/>
            </a:xfrm>
          </p:grpSpPr>
          <p:sp>
            <p:nvSpPr>
              <p:cNvPr id="211" name="矩形 210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altLang="zh-CN" sz="2800" b="1">
                    <a:solidFill>
                      <a:schemeClr val="tx1"/>
                    </a:solidFill>
                  </a:rPr>
                  <a:t>V</a:t>
                </a:r>
                <a:r>
                  <a:rPr lang="zh-CN" altLang="en-US" sz="2800" b="1">
                    <a:solidFill>
                      <a:schemeClr val="tx1"/>
                    </a:solidFill>
                  </a:rPr>
                  <a:t>超甜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(B1)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2" name="矩形 21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13" name="矩形 212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皮划艇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(C4)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4" name="矩形 213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15" name="组合 214"/>
            <p:cNvGrpSpPr/>
            <p:nvPr/>
          </p:nvGrpSpPr>
          <p:grpSpPr>
            <a:xfrm rot="0">
              <a:off x="2671" y="38773"/>
              <a:ext cx="7420" cy="3238"/>
              <a:chOff x="431" y="349"/>
              <a:chExt cx="3918" cy="1789"/>
            </a:xfrm>
          </p:grpSpPr>
          <p:sp>
            <p:nvSpPr>
              <p:cNvPr id="216" name="矩形 215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陀螺队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(D2)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7" name="矩形 216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18" name="矩形 217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2800" b="1">
                    <a:solidFill>
                      <a:schemeClr val="tx1"/>
                    </a:solidFill>
                  </a:rPr>
                  <a:t>快乐星球</a:t>
                </a:r>
                <a:r>
                  <a:rPr lang="en-US" altLang="zh-CN" sz="2800" b="1">
                    <a:solidFill>
                      <a:schemeClr val="tx1"/>
                    </a:solidFill>
                  </a:rPr>
                  <a:t>V12(A3)</a:t>
                </a:r>
                <a:endParaRPr lang="en-US" altLang="zh-CN" sz="280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9" name="矩形 218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2800" b="1">
                    <a:solidFill>
                      <a:srgbClr val="0070C0"/>
                    </a:solidFill>
                  </a:rPr>
                  <a:t>/</a:t>
                </a:r>
                <a:endParaRPr lang="en-US" sz="2800" b="1">
                  <a:solidFill>
                    <a:srgbClr val="0070C0"/>
                  </a:solidFill>
                </a:endParaRPr>
              </a:p>
            </p:txBody>
          </p:sp>
        </p:grpSp>
        <p:sp>
          <p:nvSpPr>
            <p:cNvPr id="220" name="矩形 219"/>
            <p:cNvSpPr/>
            <p:nvPr/>
          </p:nvSpPr>
          <p:spPr>
            <a:xfrm>
              <a:off x="1787" y="24304"/>
              <a:ext cx="40808" cy="1843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21" name="组合 220"/>
            <p:cNvGrpSpPr/>
            <p:nvPr/>
          </p:nvGrpSpPr>
          <p:grpSpPr>
            <a:xfrm rot="0">
              <a:off x="15772" y="27448"/>
              <a:ext cx="7420" cy="3238"/>
              <a:chOff x="431" y="349"/>
              <a:chExt cx="3918" cy="1789"/>
            </a:xfrm>
          </p:grpSpPr>
          <p:sp>
            <p:nvSpPr>
              <p:cNvPr id="222" name="矩形 221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飞行淇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3" name="矩形 222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4" name="矩形 223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5" name="矩形 224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grpSp>
          <p:nvGrpSpPr>
            <p:cNvPr id="226" name="组合 225"/>
            <p:cNvGrpSpPr/>
            <p:nvPr/>
          </p:nvGrpSpPr>
          <p:grpSpPr>
            <a:xfrm rot="0">
              <a:off x="15769" y="36342"/>
              <a:ext cx="7420" cy="3238"/>
              <a:chOff x="431" y="349"/>
              <a:chExt cx="3918" cy="1789"/>
            </a:xfrm>
          </p:grpSpPr>
          <p:sp>
            <p:nvSpPr>
              <p:cNvPr id="227" name="矩形 226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8" name="矩形 227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29" name="矩形 228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0" name="矩形 229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</p:grpSp>
        <p:cxnSp>
          <p:nvCxnSpPr>
            <p:cNvPr id="231" name="肘形连接符 230"/>
            <p:cNvCxnSpPr>
              <a:stCxn id="217" idx="3"/>
              <a:endCxn id="229" idx="1"/>
            </p:cNvCxnSpPr>
            <p:nvPr/>
          </p:nvCxnSpPr>
          <p:spPr>
            <a:xfrm flipV="1">
              <a:off x="10093" y="38773"/>
              <a:ext cx="5676" cy="810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2" name="肘形连接符 231"/>
            <p:cNvCxnSpPr>
              <a:stCxn id="212" idx="3"/>
              <a:endCxn id="227" idx="1"/>
            </p:cNvCxnSpPr>
            <p:nvPr/>
          </p:nvCxnSpPr>
          <p:spPr>
            <a:xfrm>
              <a:off x="10093" y="35068"/>
              <a:ext cx="5676" cy="2085"/>
            </a:xfrm>
            <a:prstGeom prst="bentConnector3">
              <a:avLst>
                <a:gd name="adj1" fmla="val 50000"/>
              </a:avLst>
            </a:prstGeom>
            <a:ln w="412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3" name="肘形连接符 232"/>
            <p:cNvCxnSpPr>
              <a:stCxn id="202" idx="3"/>
              <a:endCxn id="222" idx="1"/>
            </p:cNvCxnSpPr>
            <p:nvPr/>
          </p:nvCxnSpPr>
          <p:spPr>
            <a:xfrm>
              <a:off x="10093" y="26038"/>
              <a:ext cx="5679" cy="2220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4" name="肘形连接符 233"/>
            <p:cNvCxnSpPr>
              <a:stCxn id="207" idx="3"/>
              <a:endCxn id="224" idx="1"/>
            </p:cNvCxnSpPr>
            <p:nvPr/>
          </p:nvCxnSpPr>
          <p:spPr>
            <a:xfrm flipV="1">
              <a:off x="10093" y="29878"/>
              <a:ext cx="5679" cy="676"/>
            </a:xfrm>
            <a:prstGeom prst="bentConnector3">
              <a:avLst>
                <a:gd name="adj1" fmla="val 5000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5" name="肘形连接符 234"/>
            <p:cNvCxnSpPr>
              <a:stCxn id="223" idx="3"/>
              <a:endCxn id="239" idx="1"/>
            </p:cNvCxnSpPr>
            <p:nvPr/>
          </p:nvCxnSpPr>
          <p:spPr>
            <a:xfrm>
              <a:off x="23194" y="28258"/>
              <a:ext cx="8287" cy="4282"/>
            </a:xfrm>
            <a:prstGeom prst="bentConnector3">
              <a:avLst>
                <a:gd name="adj1" fmla="val 5000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36" name="肘形连接符 235"/>
            <p:cNvCxnSpPr>
              <a:stCxn id="228" idx="3"/>
              <a:endCxn id="240" idx="1"/>
            </p:cNvCxnSpPr>
            <p:nvPr/>
          </p:nvCxnSpPr>
          <p:spPr>
            <a:xfrm flipV="1">
              <a:off x="23191" y="34383"/>
              <a:ext cx="8290" cy="2769"/>
            </a:xfrm>
            <a:prstGeom prst="bentConnector3">
              <a:avLst>
                <a:gd name="adj1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237" name="文本框 236"/>
            <p:cNvSpPr txBox="1"/>
            <p:nvPr/>
          </p:nvSpPr>
          <p:spPr>
            <a:xfrm>
              <a:off x="30130" y="29068"/>
              <a:ext cx="10636" cy="194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四强晋级队伍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-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下半区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38" name="矩形 237"/>
            <p:cNvSpPr/>
            <p:nvPr/>
          </p:nvSpPr>
          <p:spPr>
            <a:xfrm>
              <a:off x="30130" y="31015"/>
              <a:ext cx="10636" cy="5220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239" name="矩形 238"/>
            <p:cNvSpPr/>
            <p:nvPr/>
          </p:nvSpPr>
          <p:spPr>
            <a:xfrm>
              <a:off x="31481" y="31618"/>
              <a:ext cx="6967" cy="184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40" name="矩形 239"/>
            <p:cNvSpPr/>
            <p:nvPr/>
          </p:nvSpPr>
          <p:spPr>
            <a:xfrm>
              <a:off x="31481" y="33461"/>
              <a:ext cx="6967" cy="1843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41" name="文本框 240"/>
            <p:cNvSpPr txBox="1"/>
            <p:nvPr/>
          </p:nvSpPr>
          <p:spPr>
            <a:xfrm>
              <a:off x="1787" y="4166"/>
              <a:ext cx="40809" cy="248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16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进</a:t>
              </a:r>
              <a:r>
                <a:rPr lang="en-US" altLang="zh-CN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2" name="文本框 241"/>
            <p:cNvSpPr txBox="1"/>
            <p:nvPr/>
          </p:nvSpPr>
          <p:spPr>
            <a:xfrm>
              <a:off x="44114" y="4166"/>
              <a:ext cx="33945" cy="248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4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强淘汰赛</a:t>
              </a:r>
              <a:endPara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3" name="矩形 242"/>
            <p:cNvSpPr/>
            <p:nvPr/>
          </p:nvSpPr>
          <p:spPr>
            <a:xfrm>
              <a:off x="44114" y="6682"/>
              <a:ext cx="33945" cy="36052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sp>
          <p:nvSpPr>
            <p:cNvPr id="245" name="文本框 244"/>
            <p:cNvSpPr txBox="1"/>
            <p:nvPr/>
          </p:nvSpPr>
          <p:spPr>
            <a:xfrm>
              <a:off x="45282" y="10856"/>
              <a:ext cx="13377" cy="377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(1-0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6" name="矩形 245"/>
            <p:cNvSpPr/>
            <p:nvPr/>
          </p:nvSpPr>
          <p:spPr>
            <a:xfrm>
              <a:off x="45282" y="14630"/>
              <a:ext cx="13377" cy="9501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47" name="组合 246"/>
            <p:cNvGrpSpPr/>
            <p:nvPr/>
          </p:nvGrpSpPr>
          <p:grpSpPr>
            <a:xfrm rot="0">
              <a:off x="46836" y="15799"/>
              <a:ext cx="10271" cy="7140"/>
              <a:chOff x="431" y="349"/>
              <a:chExt cx="3918" cy="1789"/>
            </a:xfrm>
          </p:grpSpPr>
          <p:sp>
            <p:nvSpPr>
              <p:cNvPr id="248" name="矩形 247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49" name="矩形 248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50" name="矩形 249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1" name="矩形 250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2" name="组合 251"/>
            <p:cNvGrpSpPr/>
            <p:nvPr/>
          </p:nvGrpSpPr>
          <p:grpSpPr>
            <a:xfrm rot="0">
              <a:off x="45282" y="25498"/>
              <a:ext cx="13376" cy="13275"/>
              <a:chOff x="53765" y="17173"/>
              <a:chExt cx="9664" cy="5572"/>
            </a:xfrm>
          </p:grpSpPr>
          <p:sp>
            <p:nvSpPr>
              <p:cNvPr id="253" name="文本框 252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一轮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(0-1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54" name="矩形 253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55" name="组合 254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256" name="矩形 255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en-US" altLang="zh-CN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7" name="矩形 256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58" name="矩形 257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殿军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9" name="矩形 258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260" name="组合 259"/>
            <p:cNvGrpSpPr/>
            <p:nvPr/>
          </p:nvGrpSpPr>
          <p:grpSpPr>
            <a:xfrm rot="0">
              <a:off x="60151" y="25498"/>
              <a:ext cx="15871" cy="13275"/>
              <a:chOff x="53765" y="17173"/>
              <a:chExt cx="9664" cy="5572"/>
            </a:xfrm>
          </p:grpSpPr>
          <p:sp>
            <p:nvSpPr>
              <p:cNvPr id="261" name="文本框 260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第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二轮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(1-1</a:t>
                </a:r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分组</a:t>
                </a:r>
                <a:r>
                  <a:rPr lang="en-US" altLang="zh-CN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)</a:t>
                </a:r>
                <a:endPara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62" name="矩形 261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63" name="组合 262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264" name="矩形 263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</a:rPr>
                    <a:t>待定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5" name="矩形 264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66" name="矩形 265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季军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accent1"/>
                      </a:solidFill>
                    </a:rPr>
                    <a:t>🥉</a:t>
                  </a:r>
                  <a:endParaRPr lang="zh-CN" altLang="en-US" sz="4550" b="1">
                    <a:solidFill>
                      <a:schemeClr val="accent1"/>
                    </a:solidFill>
                  </a:endParaRPr>
                </a:p>
              </p:txBody>
            </p:sp>
            <p:sp>
              <p:nvSpPr>
                <p:cNvPr id="267" name="矩形 266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268" name="组合 267"/>
            <p:cNvGrpSpPr/>
            <p:nvPr/>
          </p:nvGrpSpPr>
          <p:grpSpPr>
            <a:xfrm rot="0">
              <a:off x="60153" y="10856"/>
              <a:ext cx="15867" cy="13275"/>
              <a:chOff x="53765" y="17173"/>
              <a:chExt cx="9664" cy="5572"/>
            </a:xfrm>
          </p:grpSpPr>
          <p:sp>
            <p:nvSpPr>
              <p:cNvPr id="269" name="文本框 268"/>
              <p:cNvSpPr txBox="1"/>
              <p:nvPr/>
            </p:nvSpPr>
            <p:spPr>
              <a:xfrm>
                <a:off x="53765" y="17173"/>
                <a:ext cx="9665" cy="1584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</p:spPr>
            <p:txBody>
              <a:bodyPr wrap="square" rtlCol="0" anchor="ctr" anchorCtr="0">
                <a:noAutofit/>
              </a:bodyPr>
              <a:p>
                <a:pPr algn="ctr"/>
                <a:r>
                  <a:rPr lang="zh-CN" altLang="en-US" sz="4550" b="1">
                    <a:solidFill>
                      <a:schemeClr val="accent1"/>
                    </a:solidFill>
                    <a:latin typeface="微软雅黑" panose="020B0503020204020204" charset="-122"/>
                    <a:ea typeface="微软雅黑" panose="020B0503020204020204" charset="-122"/>
                    <a:cs typeface="微软雅黑" panose="020B0503020204020204" charset="-122"/>
                  </a:rPr>
                  <a:t>总决赛</a:t>
                </a:r>
                <a:endPara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endParaRPr>
              </a:p>
            </p:txBody>
          </p:sp>
          <p:sp>
            <p:nvSpPr>
              <p:cNvPr id="270" name="矩形 269"/>
              <p:cNvSpPr/>
              <p:nvPr/>
            </p:nvSpPr>
            <p:spPr>
              <a:xfrm>
                <a:off x="53765" y="18757"/>
                <a:ext cx="9665" cy="3988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  <a:prstDash val="dash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560"/>
              </a:p>
            </p:txBody>
          </p:sp>
          <p:grpSp>
            <p:nvGrpSpPr>
              <p:cNvPr id="271" name="组合 270"/>
              <p:cNvGrpSpPr/>
              <p:nvPr/>
            </p:nvGrpSpPr>
            <p:grpSpPr>
              <a:xfrm rot="0">
                <a:off x="54888" y="19247"/>
                <a:ext cx="7420" cy="2997"/>
                <a:chOff x="431" y="349"/>
                <a:chExt cx="3918" cy="1789"/>
              </a:xfrm>
            </p:grpSpPr>
            <p:sp>
              <p:nvSpPr>
                <p:cNvPr id="272" name="矩形 271"/>
                <p:cNvSpPr/>
                <p:nvPr/>
              </p:nvSpPr>
              <p:spPr>
                <a:xfrm>
                  <a:off x="431" y="349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冠军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🏆</a:t>
                  </a:r>
                  <a:endParaRPr lang="zh-CN" altLang="en-US" sz="4550" b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3" name="矩形 272"/>
                <p:cNvSpPr/>
                <p:nvPr/>
              </p:nvSpPr>
              <p:spPr>
                <a:xfrm>
                  <a:off x="3633" y="349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rgbClr val="0070C0"/>
                    </a:solidFill>
                  </a:endParaRPr>
                </a:p>
              </p:txBody>
            </p:sp>
            <p:sp>
              <p:nvSpPr>
                <p:cNvPr id="274" name="矩形 273"/>
                <p:cNvSpPr/>
                <p:nvPr/>
              </p:nvSpPr>
              <p:spPr>
                <a:xfrm>
                  <a:off x="431" y="1244"/>
                  <a:ext cx="3202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zh-CN" altLang="en-US" sz="4550" b="1">
                      <a:solidFill>
                        <a:schemeClr val="tx1"/>
                      </a:solidFill>
                      <a:sym typeface="+mn-ea"/>
                    </a:rPr>
                    <a:t>待定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(</a:t>
                  </a:r>
                  <a:r>
                    <a:rPr lang="zh-CN" altLang="en-US" sz="4550" b="1">
                      <a:solidFill>
                        <a:schemeClr val="tx1"/>
                      </a:solidFill>
                    </a:rPr>
                    <a:t>亚军</a:t>
                  </a:r>
                  <a:r>
                    <a:rPr lang="en-US" altLang="zh-CN" sz="4550" b="1">
                      <a:solidFill>
                        <a:schemeClr val="tx1"/>
                      </a:solidFill>
                    </a:rPr>
                    <a:t>)</a:t>
                  </a:r>
                  <a:r>
                    <a:rPr lang="zh-CN" altLang="en-US" sz="4550" b="1">
                      <a:solidFill>
                        <a:schemeClr val="accent1"/>
                      </a:solidFill>
                    </a:rPr>
                    <a:t>🥈</a:t>
                  </a:r>
                  <a:endParaRPr lang="zh-CN" altLang="en-US" sz="4550" b="1">
                    <a:solidFill>
                      <a:schemeClr val="accent1"/>
                    </a:solidFill>
                  </a:endParaRPr>
                </a:p>
              </p:txBody>
            </p:sp>
            <p:sp>
              <p:nvSpPr>
                <p:cNvPr id="275" name="矩形 274"/>
                <p:cNvSpPr/>
                <p:nvPr/>
              </p:nvSpPr>
              <p:spPr>
                <a:xfrm>
                  <a:off x="3633" y="1244"/>
                  <a:ext cx="717" cy="89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</a:extLst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r>
                    <a:rPr lang="en-US" sz="4550" b="1">
                      <a:solidFill>
                        <a:srgbClr val="0070C0"/>
                      </a:solidFill>
                    </a:rPr>
                    <a:t>/</a:t>
                  </a:r>
                  <a:endParaRPr lang="en-US" sz="4550" b="1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" name="矩形 1"/>
            <p:cNvSpPr/>
            <p:nvPr/>
          </p:nvSpPr>
          <p:spPr>
            <a:xfrm>
              <a:off x="38448" y="13416"/>
              <a:ext cx="1358" cy="170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3" name="矩形 2"/>
            <p:cNvSpPr/>
            <p:nvPr/>
          </p:nvSpPr>
          <p:spPr>
            <a:xfrm>
              <a:off x="38448" y="15122"/>
              <a:ext cx="1358" cy="170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28" name="矩形 27"/>
            <p:cNvSpPr/>
            <p:nvPr/>
          </p:nvSpPr>
          <p:spPr>
            <a:xfrm>
              <a:off x="38448" y="31618"/>
              <a:ext cx="1358" cy="18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38448" y="33461"/>
              <a:ext cx="1358" cy="18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81408" y="9793"/>
              <a:ext cx="14589" cy="362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71" name="矩形 70"/>
            <p:cNvSpPr/>
            <p:nvPr/>
          </p:nvSpPr>
          <p:spPr>
            <a:xfrm>
              <a:off x="81408" y="13416"/>
              <a:ext cx="14589" cy="2601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4400"/>
            </a:p>
          </p:txBody>
        </p:sp>
        <p:sp>
          <p:nvSpPr>
            <p:cNvPr id="73" name="矩形 72"/>
            <p:cNvSpPr/>
            <p:nvPr/>
          </p:nvSpPr>
          <p:spPr>
            <a:xfrm>
              <a:off x="83102" y="14539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麒麟队</a:t>
              </a:r>
              <a:r>
                <a:rPr lang="en-US" altLang="zh-CN" sz="5400" b="1">
                  <a:solidFill>
                    <a:schemeClr val="tx1"/>
                  </a:solidFill>
                </a:rPr>
                <a:t>(C6)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74" name="矩形 73"/>
            <p:cNvSpPr/>
            <p:nvPr/>
          </p:nvSpPr>
          <p:spPr>
            <a:xfrm>
              <a:off x="92255" y="14539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83102" y="17969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5400" b="1">
                  <a:solidFill>
                    <a:schemeClr val="tx1"/>
                  </a:solidFill>
                </a:rPr>
                <a:t>AUV(C5)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76" name="矩形 75"/>
            <p:cNvSpPr/>
            <p:nvPr/>
          </p:nvSpPr>
          <p:spPr>
            <a:xfrm>
              <a:off x="92255" y="17969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78" name="矩形 77"/>
            <p:cNvSpPr/>
            <p:nvPr/>
          </p:nvSpPr>
          <p:spPr>
            <a:xfrm>
              <a:off x="83105" y="22718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哈基米</a:t>
              </a:r>
              <a:r>
                <a:rPr lang="en-US" altLang="zh-CN" sz="5400" b="1">
                  <a:solidFill>
                    <a:schemeClr val="tx1"/>
                  </a:solidFill>
                </a:rPr>
                <a:t>(A6)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79" name="矩形 78"/>
            <p:cNvSpPr/>
            <p:nvPr/>
          </p:nvSpPr>
          <p:spPr>
            <a:xfrm>
              <a:off x="92258" y="2271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80" name="矩形 79"/>
            <p:cNvSpPr/>
            <p:nvPr/>
          </p:nvSpPr>
          <p:spPr>
            <a:xfrm>
              <a:off x="83105" y="26148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拉扯一下别急</a:t>
              </a:r>
              <a:r>
                <a:rPr lang="en-US" altLang="zh-CN" sz="5400" b="1">
                  <a:solidFill>
                    <a:schemeClr val="tx1"/>
                  </a:solidFill>
                </a:rPr>
                <a:t>(D6)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2258" y="2614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33" name="矩形 32"/>
            <p:cNvSpPr/>
            <p:nvPr/>
          </p:nvSpPr>
          <p:spPr>
            <a:xfrm>
              <a:off x="83108" y="31368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神将杯冠军</a:t>
              </a:r>
              <a:r>
                <a:rPr lang="en-US" altLang="zh-CN" sz="5400" b="1">
                  <a:solidFill>
                    <a:schemeClr val="tx1"/>
                  </a:solidFill>
                </a:rPr>
                <a:t>(D5)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34" name="矩形 33"/>
            <p:cNvSpPr/>
            <p:nvPr/>
          </p:nvSpPr>
          <p:spPr>
            <a:xfrm>
              <a:off x="92261" y="3136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35" name="矩形 34"/>
            <p:cNvSpPr/>
            <p:nvPr/>
          </p:nvSpPr>
          <p:spPr>
            <a:xfrm>
              <a:off x="83108" y="34798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</a:rPr>
                <a:t>无敌暴龙战士</a:t>
              </a:r>
              <a:r>
                <a:rPr lang="en-US" altLang="zh-CN" sz="5400" b="1">
                  <a:solidFill>
                    <a:schemeClr val="tx1"/>
                  </a:solidFill>
                </a:rPr>
                <a:t>(A5)</a:t>
              </a:r>
              <a:endParaRPr lang="en-US" altLang="zh-CN" sz="5400" b="1">
                <a:solidFill>
                  <a:schemeClr val="tx1"/>
                </a:solidFill>
              </a:endParaRPr>
            </a:p>
          </p:txBody>
        </p:sp>
        <p:sp>
          <p:nvSpPr>
            <p:cNvPr id="36" name="矩形 35"/>
            <p:cNvSpPr/>
            <p:nvPr/>
          </p:nvSpPr>
          <p:spPr>
            <a:xfrm>
              <a:off x="92261" y="34798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98949" y="9945"/>
              <a:ext cx="14589" cy="362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0" name="矩形 39"/>
            <p:cNvSpPr/>
            <p:nvPr/>
          </p:nvSpPr>
          <p:spPr>
            <a:xfrm>
              <a:off x="98949" y="13568"/>
              <a:ext cx="14589" cy="2601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4400"/>
            </a:p>
          </p:txBody>
        </p:sp>
        <p:sp>
          <p:nvSpPr>
            <p:cNvPr id="42" name="矩形 41"/>
            <p:cNvSpPr/>
            <p:nvPr/>
          </p:nvSpPr>
          <p:spPr>
            <a:xfrm>
              <a:off x="100643" y="1469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43" name="矩形 42"/>
            <p:cNvSpPr/>
            <p:nvPr/>
          </p:nvSpPr>
          <p:spPr>
            <a:xfrm>
              <a:off x="109796" y="1469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45" name="矩形 44"/>
            <p:cNvSpPr/>
            <p:nvPr/>
          </p:nvSpPr>
          <p:spPr>
            <a:xfrm>
              <a:off x="100643" y="1812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47" name="矩形 46"/>
            <p:cNvSpPr/>
            <p:nvPr/>
          </p:nvSpPr>
          <p:spPr>
            <a:xfrm>
              <a:off x="109796" y="1812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0" name="矩形 49"/>
            <p:cNvSpPr/>
            <p:nvPr/>
          </p:nvSpPr>
          <p:spPr>
            <a:xfrm>
              <a:off x="100646" y="2287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1" name="矩形 50"/>
            <p:cNvSpPr/>
            <p:nvPr/>
          </p:nvSpPr>
          <p:spPr>
            <a:xfrm>
              <a:off x="109799" y="2287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2" name="矩形 51"/>
            <p:cNvSpPr/>
            <p:nvPr/>
          </p:nvSpPr>
          <p:spPr>
            <a:xfrm>
              <a:off x="100646" y="2630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3" name="矩形 52"/>
            <p:cNvSpPr/>
            <p:nvPr/>
          </p:nvSpPr>
          <p:spPr>
            <a:xfrm>
              <a:off x="109799" y="2630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5" name="矩形 54"/>
            <p:cNvSpPr/>
            <p:nvPr/>
          </p:nvSpPr>
          <p:spPr>
            <a:xfrm>
              <a:off x="100649" y="3152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6" name="矩形 55"/>
            <p:cNvSpPr/>
            <p:nvPr/>
          </p:nvSpPr>
          <p:spPr>
            <a:xfrm>
              <a:off x="109802" y="3152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57" name="矩形 56"/>
            <p:cNvSpPr/>
            <p:nvPr/>
          </p:nvSpPr>
          <p:spPr>
            <a:xfrm>
              <a:off x="100649" y="3495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58" name="矩形 57"/>
            <p:cNvSpPr/>
            <p:nvPr/>
          </p:nvSpPr>
          <p:spPr>
            <a:xfrm>
              <a:off x="109802" y="3495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116490" y="9945"/>
              <a:ext cx="14589" cy="3623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720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三轮</a:t>
              </a:r>
              <a:endPara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61" name="矩形 60"/>
            <p:cNvSpPr/>
            <p:nvPr/>
          </p:nvSpPr>
          <p:spPr>
            <a:xfrm>
              <a:off x="116490" y="13568"/>
              <a:ext cx="14589" cy="2601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4400"/>
            </a:p>
          </p:txBody>
        </p:sp>
        <p:sp>
          <p:nvSpPr>
            <p:cNvPr id="63" name="矩形 62"/>
            <p:cNvSpPr/>
            <p:nvPr/>
          </p:nvSpPr>
          <p:spPr>
            <a:xfrm>
              <a:off x="118184" y="1469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64" name="矩形 63"/>
            <p:cNvSpPr/>
            <p:nvPr/>
          </p:nvSpPr>
          <p:spPr>
            <a:xfrm>
              <a:off x="127337" y="1469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65" name="矩形 64"/>
            <p:cNvSpPr/>
            <p:nvPr/>
          </p:nvSpPr>
          <p:spPr>
            <a:xfrm>
              <a:off x="118184" y="18121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66" name="矩形 65"/>
            <p:cNvSpPr/>
            <p:nvPr/>
          </p:nvSpPr>
          <p:spPr>
            <a:xfrm>
              <a:off x="127337" y="18121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68" name="矩形 67"/>
            <p:cNvSpPr/>
            <p:nvPr/>
          </p:nvSpPr>
          <p:spPr>
            <a:xfrm>
              <a:off x="118187" y="2287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69" name="矩形 68"/>
            <p:cNvSpPr/>
            <p:nvPr/>
          </p:nvSpPr>
          <p:spPr>
            <a:xfrm>
              <a:off x="127340" y="2287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94" name="矩形 93"/>
            <p:cNvSpPr/>
            <p:nvPr/>
          </p:nvSpPr>
          <p:spPr>
            <a:xfrm>
              <a:off x="118187" y="2630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95" name="矩形 94"/>
            <p:cNvSpPr/>
            <p:nvPr/>
          </p:nvSpPr>
          <p:spPr>
            <a:xfrm>
              <a:off x="127340" y="2630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156" name="矩形 155"/>
            <p:cNvSpPr/>
            <p:nvPr/>
          </p:nvSpPr>
          <p:spPr>
            <a:xfrm>
              <a:off x="118190" y="3152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167" name="矩形 166"/>
            <p:cNvSpPr/>
            <p:nvPr/>
          </p:nvSpPr>
          <p:spPr>
            <a:xfrm>
              <a:off x="127343" y="3152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  <p:sp>
          <p:nvSpPr>
            <p:cNvPr id="168" name="矩形 167"/>
            <p:cNvSpPr/>
            <p:nvPr/>
          </p:nvSpPr>
          <p:spPr>
            <a:xfrm>
              <a:off x="118190" y="34950"/>
              <a:ext cx="9153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7200" b="1">
                  <a:solidFill>
                    <a:schemeClr val="tx1"/>
                  </a:solidFill>
                </a:rPr>
                <a:t>待定</a:t>
              </a:r>
              <a:endParaRPr lang="zh-CN" altLang="en-US" sz="7200" b="1">
                <a:solidFill>
                  <a:schemeClr val="tx1"/>
                </a:solidFill>
              </a:endParaRPr>
            </a:p>
          </p:txBody>
        </p:sp>
        <p:sp>
          <p:nvSpPr>
            <p:cNvPr id="169" name="矩形 168"/>
            <p:cNvSpPr/>
            <p:nvPr/>
          </p:nvSpPr>
          <p:spPr>
            <a:xfrm>
              <a:off x="127343" y="34950"/>
              <a:ext cx="2050" cy="343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7200" b="1">
                  <a:solidFill>
                    <a:srgbClr val="0070C0"/>
                  </a:solidFill>
                </a:rPr>
                <a:t>/</a:t>
              </a:r>
              <a:endParaRPr lang="en-US" sz="7200" b="1">
                <a:solidFill>
                  <a:srgbClr val="0070C0"/>
                </a:solidFill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449</Words>
  <Application>WPS 演示</Application>
  <PresentationFormat>宽屏</PresentationFormat>
  <Paragraphs>244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微软雅黑</vt:lpstr>
      <vt:lpstr>Calibri</vt:lpstr>
      <vt:lpstr>MS PGothic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Chadiy</cp:lastModifiedBy>
  <cp:revision>62</cp:revision>
  <dcterms:created xsi:type="dcterms:W3CDTF">2023-08-09T12:44:00Z</dcterms:created>
  <dcterms:modified xsi:type="dcterms:W3CDTF">2026-04-08T17:15:35Z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2052-12.1.0.25835</vt:lpwstr>
  </property>
  <property fmtid="{D5CDD505-2E9C-101B-9397-08002B2CF9AE}" pid="3" name="ICV">
    <vt:lpwstr>EC36D588B10B4BAFB362F4820491652F_12</vt:lpwstr>
  </property>
</Properties>
</file>