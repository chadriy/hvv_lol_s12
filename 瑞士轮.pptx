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51198780" cy="5119878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6" userDrawn="1">
          <p15:clr>
            <a:srgbClr val="A4A3A4"/>
          </p15:clr>
        </p15:guide>
        <p15:guide id="2" pos="161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6126"/>
        <p:guide pos="161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00210" y="8379767"/>
            <a:ext cx="38401259" cy="17826257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400210" y="26893472"/>
            <a:ext cx="38401259" cy="12362221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5"/>
            </a:lvl3pPr>
            <a:lvl4pPr marL="7680960" indent="0" algn="ctr">
              <a:buNone/>
              <a:defRPr sz="8960"/>
            </a:lvl4pPr>
            <a:lvl5pPr marL="10239375" indent="0" algn="ctr">
              <a:buNone/>
              <a:defRPr sz="8960"/>
            </a:lvl5pPr>
            <a:lvl6pPr marL="12799695" indent="0" algn="ctr">
              <a:buNone/>
              <a:defRPr sz="8960"/>
            </a:lvl6pPr>
            <a:lvl7pPr marL="15360015" indent="0" algn="ctr">
              <a:buNone/>
              <a:defRPr sz="8960"/>
            </a:lvl7pPr>
            <a:lvl8pPr marL="17921605" indent="0" algn="ctr">
              <a:buNone/>
              <a:defRPr sz="8960"/>
            </a:lvl8pPr>
            <a:lvl9pPr marL="20481925" indent="0" algn="ctr">
              <a:buNone/>
              <a:defRPr sz="896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3448" y="12765215"/>
            <a:ext cx="44161447" cy="21299054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93448" y="34265767"/>
            <a:ext cx="44161447" cy="11200669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>
                    <a:tint val="75000"/>
                  </a:schemeClr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2pPr>
            <a:lvl3pPr marL="5120640" indent="0">
              <a:buNone/>
              <a:defRPr sz="10085">
                <a:solidFill>
                  <a:schemeClr val="tx1">
                    <a:tint val="75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3937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79969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001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2160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8192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520115" y="13630449"/>
            <a:ext cx="21760713" cy="324878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920850" y="13630449"/>
            <a:ext cx="21760713" cy="324878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6784" y="2726090"/>
            <a:ext cx="44161447" cy="98968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526784" y="12551869"/>
            <a:ext cx="21660708" cy="6151477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5" b="1"/>
            </a:lvl3pPr>
            <a:lvl4pPr marL="7680960" indent="0">
              <a:buNone/>
              <a:defRPr sz="8960" b="1"/>
            </a:lvl4pPr>
            <a:lvl5pPr marL="10239375" indent="0">
              <a:buNone/>
              <a:defRPr sz="8960" b="1"/>
            </a:lvl5pPr>
            <a:lvl6pPr marL="12799695" indent="0">
              <a:buNone/>
              <a:defRPr sz="8960" b="1"/>
            </a:lvl6pPr>
            <a:lvl7pPr marL="15360015" indent="0">
              <a:buNone/>
              <a:defRPr sz="8960" b="1"/>
            </a:lvl7pPr>
            <a:lvl8pPr marL="17921605" indent="0">
              <a:buNone/>
              <a:defRPr sz="8960" b="1"/>
            </a:lvl8pPr>
            <a:lvl9pPr marL="20481925" indent="0">
              <a:buNone/>
              <a:defRPr sz="89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26784" y="18703346"/>
            <a:ext cx="21660708" cy="2750980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5920850" y="12551869"/>
            <a:ext cx="21767382" cy="6151477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5" b="1"/>
            </a:lvl3pPr>
            <a:lvl4pPr marL="7680960" indent="0">
              <a:buNone/>
              <a:defRPr sz="8960" b="1"/>
            </a:lvl4pPr>
            <a:lvl5pPr marL="10239375" indent="0">
              <a:buNone/>
              <a:defRPr sz="8960" b="1"/>
            </a:lvl5pPr>
            <a:lvl6pPr marL="12799695" indent="0">
              <a:buNone/>
              <a:defRPr sz="8960" b="1"/>
            </a:lvl6pPr>
            <a:lvl7pPr marL="15360015" indent="0">
              <a:buNone/>
              <a:defRPr sz="8960" b="1"/>
            </a:lvl7pPr>
            <a:lvl8pPr marL="17921605" indent="0">
              <a:buNone/>
              <a:defRPr sz="8960" b="1"/>
            </a:lvl8pPr>
            <a:lvl9pPr marL="20481925" indent="0">
              <a:buNone/>
              <a:defRPr sz="89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5920850" y="18703346"/>
            <a:ext cx="21767382" cy="2750980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6784" y="3413538"/>
            <a:ext cx="16513873" cy="11947385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767382" y="7372295"/>
            <a:ext cx="25920850" cy="36387372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526784" y="15360923"/>
            <a:ext cx="16513873" cy="28458010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5"/>
            </a:lvl2pPr>
            <a:lvl3pPr marL="5120640" indent="0">
              <a:buNone/>
              <a:defRPr sz="6720"/>
            </a:lvl3pPr>
            <a:lvl4pPr marL="7680960" indent="0">
              <a:buNone/>
              <a:defRPr sz="5605"/>
            </a:lvl4pPr>
            <a:lvl5pPr marL="10239375" indent="0">
              <a:buNone/>
              <a:defRPr sz="5605"/>
            </a:lvl5pPr>
            <a:lvl6pPr marL="12799695" indent="0">
              <a:buNone/>
              <a:defRPr sz="5605"/>
            </a:lvl6pPr>
            <a:lvl7pPr marL="15360015" indent="0">
              <a:buNone/>
              <a:defRPr sz="5605"/>
            </a:lvl7pPr>
            <a:lvl8pPr marL="17921605" indent="0">
              <a:buNone/>
              <a:defRPr sz="5605"/>
            </a:lvl8pPr>
            <a:lvl9pPr marL="20481925" indent="0">
              <a:buNone/>
              <a:defRPr sz="560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6784" y="3413538"/>
            <a:ext cx="16513873" cy="11947385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767382" y="7372295"/>
            <a:ext cx="25920850" cy="36387372"/>
          </a:xfrm>
        </p:spPr>
        <p:txBody>
          <a:bodyPr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39375" indent="0">
              <a:buNone/>
              <a:defRPr sz="11200"/>
            </a:lvl5pPr>
            <a:lvl6pPr marL="12799695" indent="0">
              <a:buNone/>
              <a:defRPr sz="11200"/>
            </a:lvl6pPr>
            <a:lvl7pPr marL="15360015" indent="0">
              <a:buNone/>
              <a:defRPr sz="11200"/>
            </a:lvl7pPr>
            <a:lvl8pPr marL="17921605" indent="0">
              <a:buNone/>
              <a:defRPr sz="11200"/>
            </a:lvl8pPr>
            <a:lvl9pPr marL="20481925" indent="0">
              <a:buNone/>
              <a:defRPr sz="112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526784" y="15360923"/>
            <a:ext cx="16513873" cy="28458010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5"/>
            </a:lvl2pPr>
            <a:lvl3pPr marL="5120640" indent="0">
              <a:buNone/>
              <a:defRPr sz="6720"/>
            </a:lvl3pPr>
            <a:lvl4pPr marL="7680960" indent="0">
              <a:buNone/>
              <a:defRPr sz="5605"/>
            </a:lvl4pPr>
            <a:lvl5pPr marL="10239375" indent="0">
              <a:buNone/>
              <a:defRPr sz="5605"/>
            </a:lvl5pPr>
            <a:lvl6pPr marL="12799695" indent="0">
              <a:buNone/>
              <a:defRPr sz="5605"/>
            </a:lvl6pPr>
            <a:lvl7pPr marL="15360015" indent="0">
              <a:buNone/>
              <a:defRPr sz="5605"/>
            </a:lvl7pPr>
            <a:lvl8pPr marL="17921605" indent="0">
              <a:buNone/>
              <a:defRPr sz="5605"/>
            </a:lvl8pPr>
            <a:lvl9pPr marL="20481925" indent="0">
              <a:buNone/>
              <a:defRPr sz="560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6641201" y="2726090"/>
            <a:ext cx="11040362" cy="4339224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520115" y="2726090"/>
            <a:ext cx="32481065" cy="4339224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520115" y="2726090"/>
            <a:ext cx="44161447" cy="9896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520115" y="13630449"/>
            <a:ext cx="44161447" cy="3248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520115" y="47457667"/>
            <a:ext cx="11520378" cy="272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6960556" y="47457667"/>
            <a:ext cx="17280566" cy="272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6161185" y="47457667"/>
            <a:ext cx="11520378" cy="272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795" indent="-1280795" algn="l" defTabSz="5120640" rtl="0" eaLnBrk="1" latinLnBrk="0" hangingPunct="1">
        <a:lnSpc>
          <a:spcPct val="90000"/>
        </a:lnSpc>
        <a:spcBef>
          <a:spcPts val="561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1115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1435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755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4pPr>
      <a:lvl5pPr marL="1152017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5pPr>
      <a:lvl6pPr marL="1408049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6pPr>
      <a:lvl7pPr marL="1664081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7pPr>
      <a:lvl8pPr marL="1920113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8pPr>
      <a:lvl9pPr marL="2176145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4pPr>
      <a:lvl5pPr marL="1023937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5pPr>
      <a:lvl6pPr marL="1279969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6pPr>
      <a:lvl7pPr marL="1536001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7pPr>
      <a:lvl8pPr marL="1792160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8pPr>
      <a:lvl9pPr marL="2048192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007745" y="295275"/>
            <a:ext cx="48560355" cy="49569370"/>
            <a:chOff x="1587" y="465"/>
            <a:chExt cx="76473" cy="78062"/>
          </a:xfrm>
        </p:grpSpPr>
        <p:grpSp>
          <p:nvGrpSpPr>
            <p:cNvPr id="99" name="组合 98"/>
            <p:cNvGrpSpPr/>
            <p:nvPr/>
          </p:nvGrpSpPr>
          <p:grpSpPr>
            <a:xfrm rot="0">
              <a:off x="1587" y="47267"/>
              <a:ext cx="47893" cy="31261"/>
              <a:chOff x="14110" y="1022"/>
              <a:chExt cx="41334" cy="43538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14110" y="3899"/>
                <a:ext cx="41334" cy="4066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4110" y="1022"/>
                <a:ext cx="41334" cy="287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en-US" altLang="zh-CN" sz="7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8</a:t>
                </a:r>
                <a:r>
                  <a:rPr lang="zh-CN" altLang="en-US" sz="7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进</a:t>
                </a:r>
                <a:r>
                  <a:rPr lang="en-US" altLang="zh-CN" sz="7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4</a:t>
                </a:r>
                <a:r>
                  <a:rPr lang="zh-CN" altLang="en-US" sz="7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淘汰赛</a:t>
                </a:r>
                <a:endPara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2671" y="50019"/>
              <a:ext cx="46313" cy="27626"/>
              <a:chOff x="13865" y="49293"/>
              <a:chExt cx="35119" cy="21628"/>
            </a:xfrm>
          </p:grpSpPr>
          <p:grpSp>
            <p:nvGrpSpPr>
              <p:cNvPr id="101" name="组合 100"/>
              <p:cNvGrpSpPr/>
              <p:nvPr/>
            </p:nvGrpSpPr>
            <p:grpSpPr>
              <a:xfrm rot="0">
                <a:off x="13865" y="50876"/>
                <a:ext cx="11063" cy="9221"/>
                <a:chOff x="29092" y="4819"/>
                <a:chExt cx="10668" cy="12728"/>
              </a:xfrm>
            </p:grpSpPr>
            <p:sp>
              <p:nvSpPr>
                <p:cNvPr id="70" name="文本框 69"/>
                <p:cNvSpPr txBox="1"/>
                <p:nvPr/>
              </p:nvSpPr>
              <p:spPr>
                <a:xfrm>
                  <a:off x="29092" y="4819"/>
                  <a:ext cx="10668" cy="2186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第二轮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(1-0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分组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)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29092" y="7005"/>
                  <a:ext cx="10668" cy="1054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72" name="组合 71"/>
                <p:cNvGrpSpPr/>
                <p:nvPr/>
              </p:nvGrpSpPr>
              <p:grpSpPr>
                <a:xfrm rot="0">
                  <a:off x="30331" y="7682"/>
                  <a:ext cx="8190" cy="4137"/>
                  <a:chOff x="431" y="349"/>
                  <a:chExt cx="3918" cy="1789"/>
                </a:xfrm>
              </p:grpSpPr>
              <p:sp>
                <p:nvSpPr>
                  <p:cNvPr id="73" name="矩形 72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4" name="矩形 73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75" name="矩形 74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6" name="矩形 75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7" name="组合 76"/>
                <p:cNvGrpSpPr/>
                <p:nvPr/>
              </p:nvGrpSpPr>
              <p:grpSpPr>
                <a:xfrm rot="0">
                  <a:off x="30333" y="12617"/>
                  <a:ext cx="8190" cy="4137"/>
                  <a:chOff x="431" y="349"/>
                  <a:chExt cx="3918" cy="1789"/>
                </a:xfrm>
              </p:grpSpPr>
              <p:sp>
                <p:nvSpPr>
                  <p:cNvPr id="78" name="矩形 77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矩形 78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80" name="矩形 79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矩形 80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00" name="组合 99"/>
              <p:cNvGrpSpPr/>
              <p:nvPr/>
            </p:nvGrpSpPr>
            <p:grpSpPr>
              <a:xfrm rot="0">
                <a:off x="13865" y="60482"/>
                <a:ext cx="11063" cy="9221"/>
                <a:chOff x="26358" y="25111"/>
                <a:chExt cx="10668" cy="12728"/>
              </a:xfrm>
            </p:grpSpPr>
            <p:sp>
              <p:nvSpPr>
                <p:cNvPr id="82" name="文本框 81"/>
                <p:cNvSpPr txBox="1"/>
                <p:nvPr/>
              </p:nvSpPr>
              <p:spPr>
                <a:xfrm>
                  <a:off x="26358" y="25111"/>
                  <a:ext cx="10668" cy="2186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第二轮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(0-1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分组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)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3" name="矩形 82"/>
                <p:cNvSpPr/>
                <p:nvPr/>
              </p:nvSpPr>
              <p:spPr>
                <a:xfrm>
                  <a:off x="26358" y="27297"/>
                  <a:ext cx="10668" cy="1054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84" name="组合 83"/>
                <p:cNvGrpSpPr/>
                <p:nvPr/>
              </p:nvGrpSpPr>
              <p:grpSpPr>
                <a:xfrm rot="0">
                  <a:off x="27597" y="27974"/>
                  <a:ext cx="8190" cy="4137"/>
                  <a:chOff x="431" y="349"/>
                  <a:chExt cx="3918" cy="1789"/>
                </a:xfrm>
              </p:grpSpPr>
              <p:sp>
                <p:nvSpPr>
                  <p:cNvPr id="85" name="矩形 84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" name="矩形 85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87" name="矩形 86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" name="矩形 87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9" name="组合 88"/>
                <p:cNvGrpSpPr/>
                <p:nvPr/>
              </p:nvGrpSpPr>
              <p:grpSpPr>
                <a:xfrm rot="0">
                  <a:off x="27599" y="32909"/>
                  <a:ext cx="8190" cy="4137"/>
                  <a:chOff x="431" y="349"/>
                  <a:chExt cx="3918" cy="1789"/>
                </a:xfrm>
              </p:grpSpPr>
              <p:sp>
                <p:nvSpPr>
                  <p:cNvPr id="90" name="矩形 89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" name="矩形 90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92" name="矩形 91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矩形 92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22" name="组合 121"/>
              <p:cNvGrpSpPr/>
              <p:nvPr/>
            </p:nvGrpSpPr>
            <p:grpSpPr>
              <a:xfrm rot="0">
                <a:off x="26141" y="49293"/>
                <a:ext cx="11063" cy="5829"/>
                <a:chOff x="37786" y="4819"/>
                <a:chExt cx="10668" cy="8046"/>
              </a:xfrm>
            </p:grpSpPr>
            <p:sp>
              <p:nvSpPr>
                <p:cNvPr id="103" name="文本框 102"/>
                <p:cNvSpPr txBox="1"/>
                <p:nvPr/>
              </p:nvSpPr>
              <p:spPr>
                <a:xfrm>
                  <a:off x="37786" y="4819"/>
                  <a:ext cx="10668" cy="2186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2-0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晋级队伍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>
                  <a:off x="37786" y="7005"/>
                  <a:ext cx="10668" cy="586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105" name="组合 104"/>
                <p:cNvGrpSpPr/>
                <p:nvPr/>
              </p:nvGrpSpPr>
              <p:grpSpPr>
                <a:xfrm rot="0">
                  <a:off x="38774" y="7682"/>
                  <a:ext cx="8692" cy="4139"/>
                  <a:chOff x="431" y="349"/>
                  <a:chExt cx="3202" cy="1790"/>
                </a:xfrm>
              </p:grpSpPr>
              <p:sp>
                <p:nvSpPr>
                  <p:cNvPr id="106" name="矩形 105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23" name="组合 122"/>
              <p:cNvGrpSpPr/>
              <p:nvPr/>
            </p:nvGrpSpPr>
            <p:grpSpPr>
              <a:xfrm rot="0">
                <a:off x="26141" y="65093"/>
                <a:ext cx="11063" cy="5829"/>
                <a:chOff x="37786" y="31302"/>
                <a:chExt cx="10668" cy="8046"/>
              </a:xfrm>
            </p:grpSpPr>
            <p:sp>
              <p:nvSpPr>
                <p:cNvPr id="117" name="文本框 116"/>
                <p:cNvSpPr txBox="1"/>
                <p:nvPr/>
              </p:nvSpPr>
              <p:spPr>
                <a:xfrm>
                  <a:off x="37786" y="31302"/>
                  <a:ext cx="10668" cy="2186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0-2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淘汰队伍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18" name="矩形 117"/>
                <p:cNvSpPr/>
                <p:nvPr/>
              </p:nvSpPr>
              <p:spPr>
                <a:xfrm>
                  <a:off x="37786" y="33488"/>
                  <a:ext cx="10668" cy="586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119" name="组合 118"/>
                <p:cNvGrpSpPr/>
                <p:nvPr/>
              </p:nvGrpSpPr>
              <p:grpSpPr>
                <a:xfrm rot="0">
                  <a:off x="38774" y="34165"/>
                  <a:ext cx="8692" cy="4139"/>
                  <a:chOff x="431" y="349"/>
                  <a:chExt cx="3202" cy="1790"/>
                </a:xfrm>
              </p:grpSpPr>
              <p:sp>
                <p:nvSpPr>
                  <p:cNvPr id="120" name="矩形 119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24" name="组合 123"/>
              <p:cNvGrpSpPr/>
              <p:nvPr/>
            </p:nvGrpSpPr>
            <p:grpSpPr>
              <a:xfrm rot="0">
                <a:off x="26141" y="55409"/>
                <a:ext cx="11063" cy="9221"/>
                <a:chOff x="26358" y="25111"/>
                <a:chExt cx="10668" cy="12728"/>
              </a:xfrm>
            </p:grpSpPr>
            <p:sp>
              <p:nvSpPr>
                <p:cNvPr id="125" name="文本框 124"/>
                <p:cNvSpPr txBox="1"/>
                <p:nvPr/>
              </p:nvSpPr>
              <p:spPr>
                <a:xfrm>
                  <a:off x="26358" y="25111"/>
                  <a:ext cx="10668" cy="2186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第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三轮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(1-1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分组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)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26358" y="27297"/>
                  <a:ext cx="10668" cy="1054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127" name="组合 126"/>
                <p:cNvGrpSpPr/>
                <p:nvPr/>
              </p:nvGrpSpPr>
              <p:grpSpPr>
                <a:xfrm rot="0">
                  <a:off x="27597" y="27974"/>
                  <a:ext cx="8190" cy="4137"/>
                  <a:chOff x="431" y="349"/>
                  <a:chExt cx="3918" cy="1789"/>
                </a:xfrm>
              </p:grpSpPr>
              <p:sp>
                <p:nvSpPr>
                  <p:cNvPr id="128" name="矩形 127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9" name="矩形 128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130" name="矩形 129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2" name="组合 131"/>
                <p:cNvGrpSpPr/>
                <p:nvPr/>
              </p:nvGrpSpPr>
              <p:grpSpPr>
                <a:xfrm rot="0">
                  <a:off x="27599" y="32909"/>
                  <a:ext cx="8190" cy="4137"/>
                  <a:chOff x="431" y="349"/>
                  <a:chExt cx="3918" cy="1789"/>
                </a:xfrm>
              </p:grpSpPr>
              <p:sp>
                <p:nvSpPr>
                  <p:cNvPr id="133" name="矩形 132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矩形 133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135" name="矩形 134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矩形 135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7" name="组合 136"/>
              <p:cNvGrpSpPr/>
              <p:nvPr/>
            </p:nvGrpSpPr>
            <p:grpSpPr>
              <a:xfrm rot="0">
                <a:off x="37922" y="57283"/>
                <a:ext cx="11063" cy="5829"/>
                <a:chOff x="37786" y="4819"/>
                <a:chExt cx="10668" cy="8046"/>
              </a:xfrm>
            </p:grpSpPr>
            <p:sp>
              <p:nvSpPr>
                <p:cNvPr id="138" name="文本框 137"/>
                <p:cNvSpPr txBox="1"/>
                <p:nvPr/>
              </p:nvSpPr>
              <p:spPr>
                <a:xfrm>
                  <a:off x="37786" y="4819"/>
                  <a:ext cx="10668" cy="2186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2-1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晋级队伍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39" name="矩形 138"/>
                <p:cNvSpPr/>
                <p:nvPr/>
              </p:nvSpPr>
              <p:spPr>
                <a:xfrm>
                  <a:off x="37786" y="7005"/>
                  <a:ext cx="10668" cy="586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140" name="组合 139"/>
                <p:cNvGrpSpPr/>
                <p:nvPr/>
              </p:nvGrpSpPr>
              <p:grpSpPr>
                <a:xfrm rot="0">
                  <a:off x="38774" y="7682"/>
                  <a:ext cx="8692" cy="4139"/>
                  <a:chOff x="431" y="349"/>
                  <a:chExt cx="3202" cy="1790"/>
                </a:xfrm>
              </p:grpSpPr>
              <p:sp>
                <p:nvSpPr>
                  <p:cNvPr id="141" name="矩形 140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2" name="矩形 141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43" name="组合 142"/>
            <p:cNvGrpSpPr/>
            <p:nvPr/>
          </p:nvGrpSpPr>
          <p:grpSpPr>
            <a:xfrm rot="0">
              <a:off x="50142" y="47266"/>
              <a:ext cx="27918" cy="31261"/>
              <a:chOff x="14110" y="1022"/>
              <a:chExt cx="41334" cy="43538"/>
            </a:xfrm>
          </p:grpSpPr>
          <p:sp>
            <p:nvSpPr>
              <p:cNvPr id="144" name="矩形 143"/>
              <p:cNvSpPr/>
              <p:nvPr/>
            </p:nvSpPr>
            <p:spPr>
              <a:xfrm>
                <a:off x="14110" y="3899"/>
                <a:ext cx="41334" cy="4066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14110" y="1022"/>
                <a:ext cx="41334" cy="287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en-US" sz="7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4</a:t>
                </a:r>
                <a:r>
                  <a:rPr lang="zh-CN" altLang="en-US" sz="72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强淘汰赛</a:t>
                </a:r>
                <a:endPara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51533" y="53258"/>
              <a:ext cx="25421" cy="21146"/>
              <a:chOff x="51531" y="53952"/>
              <a:chExt cx="25421" cy="11718"/>
            </a:xfrm>
          </p:grpSpPr>
          <p:sp>
            <p:nvSpPr>
              <p:cNvPr id="148" name="文本框 147"/>
              <p:cNvSpPr txBox="1"/>
              <p:nvPr/>
            </p:nvSpPr>
            <p:spPr>
              <a:xfrm>
                <a:off x="51531" y="53952"/>
                <a:ext cx="11063" cy="158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一轮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(1-0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分组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)</a:t>
                </a:r>
                <a:endParaRPr lang="en-US" altLang="zh-CN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9" name="矩形 148"/>
              <p:cNvSpPr/>
              <p:nvPr/>
            </p:nvSpPr>
            <p:spPr>
              <a:xfrm>
                <a:off x="51531" y="55536"/>
                <a:ext cx="11063" cy="39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grpSp>
            <p:nvGrpSpPr>
              <p:cNvPr id="150" name="组合 149"/>
              <p:cNvGrpSpPr/>
              <p:nvPr/>
            </p:nvGrpSpPr>
            <p:grpSpPr>
              <a:xfrm rot="0">
                <a:off x="52816" y="56027"/>
                <a:ext cx="8494" cy="2997"/>
                <a:chOff x="431" y="349"/>
                <a:chExt cx="3918" cy="1789"/>
              </a:xfrm>
            </p:grpSpPr>
            <p:sp>
              <p:nvSpPr>
                <p:cNvPr id="151" name="矩形 150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  <a:sym typeface="+mn-ea"/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2" name="矩形 151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  <a:sym typeface="+mn-ea"/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4" name="矩形 153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0" name="组合 169"/>
              <p:cNvGrpSpPr/>
              <p:nvPr/>
            </p:nvGrpSpPr>
            <p:grpSpPr>
              <a:xfrm rot="0">
                <a:off x="51531" y="60098"/>
                <a:ext cx="11062" cy="5572"/>
                <a:chOff x="53765" y="17173"/>
                <a:chExt cx="9664" cy="5572"/>
              </a:xfrm>
            </p:grpSpPr>
            <p:sp>
              <p:nvSpPr>
                <p:cNvPr id="160" name="文本框 159"/>
                <p:cNvSpPr txBox="1"/>
                <p:nvPr/>
              </p:nvSpPr>
              <p:spPr>
                <a:xfrm>
                  <a:off x="53765" y="17173"/>
                  <a:ext cx="9665" cy="1584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第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一轮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(0-1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分组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)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>
                <a:xfrm>
                  <a:off x="53765" y="18757"/>
                  <a:ext cx="9665" cy="398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162" name="组合 161"/>
                <p:cNvGrpSpPr/>
                <p:nvPr/>
              </p:nvGrpSpPr>
              <p:grpSpPr>
                <a:xfrm rot="0">
                  <a:off x="54888" y="19247"/>
                  <a:ext cx="7420" cy="2997"/>
                  <a:chOff x="431" y="349"/>
                  <a:chExt cx="3918" cy="1789"/>
                </a:xfrm>
              </p:grpSpPr>
              <p:sp>
                <p:nvSpPr>
                  <p:cNvPr id="163" name="矩形 162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4" name="矩形 163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165" name="矩形 164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(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殿军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)</a:t>
                    </a:r>
                    <a:endParaRPr lang="zh-CN" altLang="en-US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6" name="矩形 165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71" name="组合 170"/>
              <p:cNvGrpSpPr/>
              <p:nvPr/>
            </p:nvGrpSpPr>
            <p:grpSpPr>
              <a:xfrm rot="0">
                <a:off x="63828" y="60098"/>
                <a:ext cx="13125" cy="5572"/>
                <a:chOff x="53765" y="17173"/>
                <a:chExt cx="9664" cy="5572"/>
              </a:xfrm>
            </p:grpSpPr>
            <p:sp>
              <p:nvSpPr>
                <p:cNvPr id="172" name="文本框 171"/>
                <p:cNvSpPr txBox="1"/>
                <p:nvPr/>
              </p:nvSpPr>
              <p:spPr>
                <a:xfrm>
                  <a:off x="53765" y="17173"/>
                  <a:ext cx="9665" cy="1584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第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二轮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(1-1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分组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)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>
                <a:xfrm>
                  <a:off x="53765" y="18757"/>
                  <a:ext cx="9665" cy="398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174" name="组合 173"/>
                <p:cNvGrpSpPr/>
                <p:nvPr/>
              </p:nvGrpSpPr>
              <p:grpSpPr>
                <a:xfrm rot="0">
                  <a:off x="54888" y="19247"/>
                  <a:ext cx="7420" cy="2997"/>
                  <a:chOff x="431" y="349"/>
                  <a:chExt cx="3918" cy="1789"/>
                </a:xfrm>
              </p:grpSpPr>
              <p:sp>
                <p:nvSpPr>
                  <p:cNvPr id="175" name="矩形 174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zh-CN" altLang="en-US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6" name="矩形 175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177" name="矩形 176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  <a:sym typeface="+mn-ea"/>
                      </a:rPr>
                      <a:t>待定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(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季军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)</a:t>
                    </a:r>
                    <a:r>
                      <a:rPr lang="zh-CN" altLang="en-US" sz="4550" b="1">
                        <a:solidFill>
                          <a:schemeClr val="accent1"/>
                        </a:solidFill>
                      </a:rPr>
                      <a:t>🥉</a:t>
                    </a:r>
                    <a:endParaRPr lang="zh-CN" altLang="en-US" sz="4550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78" name="矩形 177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89" name="组合 188"/>
              <p:cNvGrpSpPr/>
              <p:nvPr/>
            </p:nvGrpSpPr>
            <p:grpSpPr>
              <a:xfrm rot="0">
                <a:off x="63829" y="53952"/>
                <a:ext cx="13122" cy="5572"/>
                <a:chOff x="53765" y="17173"/>
                <a:chExt cx="9664" cy="5572"/>
              </a:xfrm>
            </p:grpSpPr>
            <p:sp>
              <p:nvSpPr>
                <p:cNvPr id="190" name="文本框 189"/>
                <p:cNvSpPr txBox="1"/>
                <p:nvPr/>
              </p:nvSpPr>
              <p:spPr>
                <a:xfrm>
                  <a:off x="53765" y="17173"/>
                  <a:ext cx="9665" cy="1584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总决赛</a:t>
                  </a:r>
                  <a:endPara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>
                <a:xfrm>
                  <a:off x="53765" y="18757"/>
                  <a:ext cx="9665" cy="398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192" name="组合 191"/>
                <p:cNvGrpSpPr/>
                <p:nvPr/>
              </p:nvGrpSpPr>
              <p:grpSpPr>
                <a:xfrm rot="0">
                  <a:off x="54888" y="19247"/>
                  <a:ext cx="7420" cy="2997"/>
                  <a:chOff x="431" y="349"/>
                  <a:chExt cx="3918" cy="1789"/>
                </a:xfrm>
              </p:grpSpPr>
              <p:sp>
                <p:nvSpPr>
                  <p:cNvPr id="193" name="矩形 192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  <a:sym typeface="+mn-ea"/>
                      </a:rPr>
                      <a:t>待定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(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冠军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)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🏆</a:t>
                    </a:r>
                    <a:endParaRPr lang="zh-CN" altLang="en-US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" name="矩形 193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195" name="矩形 194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  <a:sym typeface="+mn-ea"/>
                      </a:rPr>
                      <a:t>待定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(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亚军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)</a:t>
                    </a:r>
                    <a:r>
                      <a:rPr lang="zh-CN" altLang="en-US" sz="4550" b="1">
                        <a:solidFill>
                          <a:schemeClr val="accent1"/>
                        </a:solidFill>
                      </a:rPr>
                      <a:t>🥈</a:t>
                    </a:r>
                    <a:endParaRPr lang="zh-CN" altLang="en-US" sz="4550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96" name="矩形 195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sp>
          <p:nvSpPr>
            <p:cNvPr id="44" name="文本框 43"/>
            <p:cNvSpPr txBox="1"/>
            <p:nvPr/>
          </p:nvSpPr>
          <p:spPr>
            <a:xfrm>
              <a:off x="1588" y="43440"/>
              <a:ext cx="76473" cy="300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HVV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杯英雄联盟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S12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淘汰赛赛程图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--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神将杯</a:t>
              </a:r>
              <a:endParaRPr lang="en-US" altLang="zh-CN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587" y="465"/>
              <a:ext cx="76473" cy="300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HVV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杯英雄联盟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S12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淘汰赛赛程图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--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常规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队伍</a:t>
              </a:r>
              <a:endParaRPr lang="en-US" altLang="zh-CN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98" name="组合 197"/>
            <p:cNvGrpSpPr/>
            <p:nvPr/>
          </p:nvGrpSpPr>
          <p:grpSpPr>
            <a:xfrm>
              <a:off x="1787" y="6646"/>
              <a:ext cx="40808" cy="17059"/>
              <a:chOff x="1787" y="4226"/>
              <a:chExt cx="40808" cy="19149"/>
            </a:xfrm>
          </p:grpSpPr>
          <p:grpSp>
            <p:nvGrpSpPr>
              <p:cNvPr id="8" name="组合 7"/>
              <p:cNvGrpSpPr/>
              <p:nvPr/>
            </p:nvGrpSpPr>
            <p:grpSpPr>
              <a:xfrm rot="0">
                <a:off x="2671" y="5186"/>
                <a:ext cx="7420" cy="3364"/>
                <a:chOff x="431" y="349"/>
                <a:chExt cx="3918" cy="1789"/>
              </a:xfrm>
            </p:grpSpPr>
            <p:sp>
              <p:nvSpPr>
                <p:cNvPr id="4" name="矩形 3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 rot="0">
                <a:off x="2671" y="9877"/>
                <a:ext cx="7420" cy="3364"/>
                <a:chOff x="431" y="349"/>
                <a:chExt cx="3918" cy="1789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 rot="0">
                <a:off x="2671" y="14568"/>
                <a:ext cx="7420" cy="3364"/>
                <a:chOff x="431" y="349"/>
                <a:chExt cx="3918" cy="1789"/>
              </a:xfrm>
            </p:grpSpPr>
            <p:sp>
              <p:nvSpPr>
                <p:cNvPr id="15" name="矩形 14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 rot="0">
                <a:off x="2671" y="19259"/>
                <a:ext cx="7420" cy="3364"/>
                <a:chOff x="431" y="349"/>
                <a:chExt cx="3918" cy="1789"/>
              </a:xfrm>
            </p:grpSpPr>
            <p:sp>
              <p:nvSpPr>
                <p:cNvPr id="20" name="矩形 19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7" name="矩形 106"/>
              <p:cNvSpPr/>
              <p:nvPr/>
            </p:nvSpPr>
            <p:spPr>
              <a:xfrm>
                <a:off x="1787" y="4226"/>
                <a:ext cx="40808" cy="191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 rot="0">
                <a:off x="15772" y="7493"/>
                <a:ext cx="7420" cy="3364"/>
                <a:chOff x="431" y="349"/>
                <a:chExt cx="3918" cy="1789"/>
              </a:xfrm>
            </p:grpSpPr>
            <p:sp>
              <p:nvSpPr>
                <p:cNvPr id="110" name="矩形 109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矩形 111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" name="矩形 112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14" name="组合 113"/>
              <p:cNvGrpSpPr/>
              <p:nvPr/>
            </p:nvGrpSpPr>
            <p:grpSpPr>
              <a:xfrm rot="0">
                <a:off x="15769" y="16734"/>
                <a:ext cx="7420" cy="3364"/>
                <a:chOff x="431" y="349"/>
                <a:chExt cx="3918" cy="1789"/>
              </a:xfrm>
            </p:grpSpPr>
            <p:sp>
              <p:nvSpPr>
                <p:cNvPr id="115" name="矩形 114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矩形 115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" name="矩形 145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7" name="矩形 146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</p:grpSp>
          <p:cxnSp>
            <p:nvCxnSpPr>
              <p:cNvPr id="155" name="肘形连接符 154"/>
              <p:cNvCxnSpPr>
                <a:stCxn id="21" idx="3"/>
                <a:endCxn id="146" idx="1"/>
              </p:cNvCxnSpPr>
              <p:nvPr/>
            </p:nvCxnSpPr>
            <p:spPr>
              <a:xfrm flipV="1">
                <a:off x="10093" y="19259"/>
                <a:ext cx="5676" cy="842"/>
              </a:xfrm>
              <a:prstGeom prst="bentConnector3">
                <a:avLst>
                  <a:gd name="adj1" fmla="val 50000"/>
                </a:avLst>
              </a:prstGeom>
              <a:ln w="412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肘形连接符 156"/>
              <p:cNvCxnSpPr>
                <a:stCxn id="16" idx="3"/>
                <a:endCxn id="115" idx="1"/>
              </p:cNvCxnSpPr>
              <p:nvPr/>
            </p:nvCxnSpPr>
            <p:spPr>
              <a:xfrm>
                <a:off x="10093" y="15410"/>
                <a:ext cx="5676" cy="2166"/>
              </a:xfrm>
              <a:prstGeom prst="bentConnector3">
                <a:avLst>
                  <a:gd name="adj1" fmla="val 50000"/>
                </a:avLst>
              </a:prstGeom>
              <a:ln w="412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肘形连接符 157"/>
              <p:cNvCxnSpPr>
                <a:stCxn id="5" idx="3"/>
                <a:endCxn id="110" idx="1"/>
              </p:cNvCxnSpPr>
              <p:nvPr/>
            </p:nvCxnSpPr>
            <p:spPr>
              <a:xfrm>
                <a:off x="10093" y="6028"/>
                <a:ext cx="5679" cy="2307"/>
              </a:xfrm>
              <a:prstGeom prst="bentConnector3">
                <a:avLst>
                  <a:gd name="adj1" fmla="val 5000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肘形连接符 158"/>
              <p:cNvCxnSpPr>
                <a:stCxn id="11" idx="3"/>
                <a:endCxn id="112" idx="1"/>
              </p:cNvCxnSpPr>
              <p:nvPr/>
            </p:nvCxnSpPr>
            <p:spPr>
              <a:xfrm flipV="1">
                <a:off x="10093" y="10017"/>
                <a:ext cx="5679" cy="702"/>
              </a:xfrm>
              <a:prstGeom prst="bentConnector3">
                <a:avLst>
                  <a:gd name="adj1" fmla="val 5000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1" name="肘形连接符 180"/>
              <p:cNvCxnSpPr>
                <a:stCxn id="111" idx="3"/>
                <a:endCxn id="187" idx="1"/>
              </p:cNvCxnSpPr>
              <p:nvPr/>
            </p:nvCxnSpPr>
            <p:spPr>
              <a:xfrm>
                <a:off x="23194" y="8335"/>
                <a:ext cx="8287" cy="4448"/>
              </a:xfrm>
              <a:prstGeom prst="bentConnector3">
                <a:avLst>
                  <a:gd name="adj1" fmla="val 50006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2" name="肘形连接符 181"/>
              <p:cNvCxnSpPr>
                <a:stCxn id="116" idx="3"/>
                <a:endCxn id="188" idx="1"/>
              </p:cNvCxnSpPr>
              <p:nvPr/>
            </p:nvCxnSpPr>
            <p:spPr>
              <a:xfrm flipV="1">
                <a:off x="23191" y="14698"/>
                <a:ext cx="8290" cy="2878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5" name="文本框 184"/>
              <p:cNvSpPr txBox="1"/>
              <p:nvPr/>
            </p:nvSpPr>
            <p:spPr>
              <a:xfrm>
                <a:off x="30130" y="9176"/>
                <a:ext cx="10636" cy="202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四强晋级队伍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-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上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半区</a:t>
                </a:r>
                <a:endPara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30130" y="11199"/>
                <a:ext cx="10636" cy="54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31481" y="11825"/>
                <a:ext cx="8666" cy="191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31481" y="13740"/>
                <a:ext cx="8666" cy="191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9" name="组合 198"/>
            <p:cNvGrpSpPr/>
            <p:nvPr/>
          </p:nvGrpSpPr>
          <p:grpSpPr>
            <a:xfrm>
              <a:off x="1787" y="24304"/>
              <a:ext cx="40808" cy="18430"/>
              <a:chOff x="1787" y="4226"/>
              <a:chExt cx="40808" cy="19149"/>
            </a:xfrm>
          </p:grpSpPr>
          <p:grpSp>
            <p:nvGrpSpPr>
              <p:cNvPr id="200" name="组合 199"/>
              <p:cNvGrpSpPr/>
              <p:nvPr/>
            </p:nvGrpSpPr>
            <p:grpSpPr>
              <a:xfrm rot="0">
                <a:off x="2671" y="5186"/>
                <a:ext cx="7420" cy="3364"/>
                <a:chOff x="431" y="349"/>
                <a:chExt cx="3918" cy="1789"/>
              </a:xfrm>
            </p:grpSpPr>
            <p:sp>
              <p:nvSpPr>
                <p:cNvPr id="201" name="矩形 200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05" name="组合 204"/>
              <p:cNvGrpSpPr/>
              <p:nvPr/>
            </p:nvGrpSpPr>
            <p:grpSpPr>
              <a:xfrm rot="0">
                <a:off x="2671" y="9877"/>
                <a:ext cx="7420" cy="3364"/>
                <a:chOff x="431" y="349"/>
                <a:chExt cx="3918" cy="1789"/>
              </a:xfrm>
            </p:grpSpPr>
            <p:sp>
              <p:nvSpPr>
                <p:cNvPr id="206" name="矩形 205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8" name="矩形 207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9" name="矩形 208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10" name="组合 209"/>
              <p:cNvGrpSpPr/>
              <p:nvPr/>
            </p:nvGrpSpPr>
            <p:grpSpPr>
              <a:xfrm rot="0">
                <a:off x="2671" y="14568"/>
                <a:ext cx="7420" cy="3364"/>
                <a:chOff x="431" y="349"/>
                <a:chExt cx="3918" cy="1789"/>
              </a:xfrm>
            </p:grpSpPr>
            <p:sp>
              <p:nvSpPr>
                <p:cNvPr id="211" name="矩形 210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15" name="组合 214"/>
              <p:cNvGrpSpPr/>
              <p:nvPr/>
            </p:nvGrpSpPr>
            <p:grpSpPr>
              <a:xfrm rot="0">
                <a:off x="2671" y="19259"/>
                <a:ext cx="7420" cy="3364"/>
                <a:chOff x="431" y="349"/>
                <a:chExt cx="3918" cy="1789"/>
              </a:xfrm>
            </p:grpSpPr>
            <p:sp>
              <p:nvSpPr>
                <p:cNvPr id="216" name="矩形 215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20" name="矩形 219"/>
              <p:cNvSpPr/>
              <p:nvPr/>
            </p:nvSpPr>
            <p:spPr>
              <a:xfrm>
                <a:off x="1787" y="4226"/>
                <a:ext cx="40808" cy="191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grpSp>
            <p:nvGrpSpPr>
              <p:cNvPr id="221" name="组合 220"/>
              <p:cNvGrpSpPr/>
              <p:nvPr/>
            </p:nvGrpSpPr>
            <p:grpSpPr>
              <a:xfrm rot="0">
                <a:off x="15772" y="7493"/>
                <a:ext cx="7420" cy="3364"/>
                <a:chOff x="431" y="349"/>
                <a:chExt cx="3918" cy="1789"/>
              </a:xfrm>
            </p:grpSpPr>
            <p:sp>
              <p:nvSpPr>
                <p:cNvPr id="222" name="矩形 221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3" name="矩形 222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4" name="矩形 223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5" name="矩形 224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26" name="组合 225"/>
              <p:cNvGrpSpPr/>
              <p:nvPr/>
            </p:nvGrpSpPr>
            <p:grpSpPr>
              <a:xfrm rot="0">
                <a:off x="15769" y="16734"/>
                <a:ext cx="7420" cy="3364"/>
                <a:chOff x="431" y="349"/>
                <a:chExt cx="3918" cy="1789"/>
              </a:xfrm>
            </p:grpSpPr>
            <p:sp>
              <p:nvSpPr>
                <p:cNvPr id="227" name="矩形 226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8" name="矩形 227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9" name="矩形 228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0" name="矩形 229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</p:grpSp>
          <p:cxnSp>
            <p:nvCxnSpPr>
              <p:cNvPr id="231" name="肘形连接符 230"/>
              <p:cNvCxnSpPr>
                <a:stCxn id="217" idx="3"/>
                <a:endCxn id="229" idx="1"/>
              </p:cNvCxnSpPr>
              <p:nvPr/>
            </p:nvCxnSpPr>
            <p:spPr>
              <a:xfrm flipV="1">
                <a:off x="10093" y="19259"/>
                <a:ext cx="5676" cy="842"/>
              </a:xfrm>
              <a:prstGeom prst="bentConnector3">
                <a:avLst>
                  <a:gd name="adj1" fmla="val 50000"/>
                </a:avLst>
              </a:prstGeom>
              <a:ln w="412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2" name="肘形连接符 231"/>
              <p:cNvCxnSpPr>
                <a:stCxn id="212" idx="3"/>
                <a:endCxn id="227" idx="1"/>
              </p:cNvCxnSpPr>
              <p:nvPr/>
            </p:nvCxnSpPr>
            <p:spPr>
              <a:xfrm>
                <a:off x="10093" y="15410"/>
                <a:ext cx="5676" cy="2166"/>
              </a:xfrm>
              <a:prstGeom prst="bentConnector3">
                <a:avLst>
                  <a:gd name="adj1" fmla="val 50000"/>
                </a:avLst>
              </a:prstGeom>
              <a:ln w="412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3" name="肘形连接符 232"/>
              <p:cNvCxnSpPr>
                <a:stCxn id="202" idx="3"/>
                <a:endCxn id="222" idx="1"/>
              </p:cNvCxnSpPr>
              <p:nvPr/>
            </p:nvCxnSpPr>
            <p:spPr>
              <a:xfrm>
                <a:off x="10093" y="6028"/>
                <a:ext cx="5679" cy="2307"/>
              </a:xfrm>
              <a:prstGeom prst="bentConnector3">
                <a:avLst>
                  <a:gd name="adj1" fmla="val 5000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4" name="肘形连接符 233"/>
              <p:cNvCxnSpPr>
                <a:stCxn id="207" idx="3"/>
                <a:endCxn id="224" idx="1"/>
              </p:cNvCxnSpPr>
              <p:nvPr/>
            </p:nvCxnSpPr>
            <p:spPr>
              <a:xfrm flipV="1">
                <a:off x="10093" y="10017"/>
                <a:ext cx="5679" cy="702"/>
              </a:xfrm>
              <a:prstGeom prst="bentConnector3">
                <a:avLst>
                  <a:gd name="adj1" fmla="val 5000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5" name="肘形连接符 234"/>
              <p:cNvCxnSpPr>
                <a:stCxn id="223" idx="3"/>
                <a:endCxn id="239" idx="1"/>
              </p:cNvCxnSpPr>
              <p:nvPr/>
            </p:nvCxnSpPr>
            <p:spPr>
              <a:xfrm>
                <a:off x="23194" y="8335"/>
                <a:ext cx="8287" cy="4448"/>
              </a:xfrm>
              <a:prstGeom prst="bentConnector3">
                <a:avLst>
                  <a:gd name="adj1" fmla="val 50006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6" name="肘形连接符 235"/>
              <p:cNvCxnSpPr>
                <a:stCxn id="228" idx="3"/>
                <a:endCxn id="240" idx="1"/>
              </p:cNvCxnSpPr>
              <p:nvPr/>
            </p:nvCxnSpPr>
            <p:spPr>
              <a:xfrm flipV="1">
                <a:off x="23191" y="14698"/>
                <a:ext cx="8290" cy="2878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37" name="文本框 236"/>
              <p:cNvSpPr txBox="1"/>
              <p:nvPr/>
            </p:nvSpPr>
            <p:spPr>
              <a:xfrm>
                <a:off x="30130" y="9176"/>
                <a:ext cx="10636" cy="202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四强晋级队伍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-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下半区</a:t>
                </a:r>
                <a:endPara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30130" y="11199"/>
                <a:ext cx="10636" cy="54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31481" y="11825"/>
                <a:ext cx="8666" cy="191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矩形 239"/>
              <p:cNvSpPr/>
              <p:nvPr/>
            </p:nvSpPr>
            <p:spPr>
              <a:xfrm>
                <a:off x="31481" y="13740"/>
                <a:ext cx="8666" cy="191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1" name="文本框 240"/>
            <p:cNvSpPr txBox="1"/>
            <p:nvPr/>
          </p:nvSpPr>
          <p:spPr>
            <a:xfrm>
              <a:off x="1787" y="4166"/>
              <a:ext cx="40809" cy="248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淘汰赛</a:t>
              </a:r>
              <a:endParaRPr lang="zh-CN" altLang="en-US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2" name="文本框 241"/>
            <p:cNvSpPr txBox="1"/>
            <p:nvPr/>
          </p:nvSpPr>
          <p:spPr>
            <a:xfrm>
              <a:off x="44114" y="4166"/>
              <a:ext cx="33945" cy="248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强淘汰赛</a:t>
              </a:r>
              <a:endParaRPr lang="zh-CN" altLang="en-US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3" name="矩形 242"/>
            <p:cNvSpPr/>
            <p:nvPr/>
          </p:nvSpPr>
          <p:spPr>
            <a:xfrm>
              <a:off x="44114" y="6682"/>
              <a:ext cx="33945" cy="3605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560"/>
            </a:p>
          </p:txBody>
        </p:sp>
        <p:grpSp>
          <p:nvGrpSpPr>
            <p:cNvPr id="244" name="组合 243"/>
            <p:cNvGrpSpPr/>
            <p:nvPr/>
          </p:nvGrpSpPr>
          <p:grpSpPr>
            <a:xfrm>
              <a:off x="45282" y="10856"/>
              <a:ext cx="30739" cy="27917"/>
              <a:chOff x="51531" y="53952"/>
              <a:chExt cx="25421" cy="11718"/>
            </a:xfrm>
          </p:grpSpPr>
          <p:sp>
            <p:nvSpPr>
              <p:cNvPr id="245" name="文本框 244"/>
              <p:cNvSpPr txBox="1"/>
              <p:nvPr/>
            </p:nvSpPr>
            <p:spPr>
              <a:xfrm>
                <a:off x="51531" y="53952"/>
                <a:ext cx="11063" cy="158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一轮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(1-0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分组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)</a:t>
                </a:r>
                <a:endParaRPr lang="en-US" altLang="zh-CN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51531" y="55536"/>
                <a:ext cx="11063" cy="39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grpSp>
            <p:nvGrpSpPr>
              <p:cNvPr id="247" name="组合 246"/>
              <p:cNvGrpSpPr/>
              <p:nvPr/>
            </p:nvGrpSpPr>
            <p:grpSpPr>
              <a:xfrm rot="0">
                <a:off x="52816" y="56027"/>
                <a:ext cx="8494" cy="2997"/>
                <a:chOff x="431" y="349"/>
                <a:chExt cx="3918" cy="1789"/>
              </a:xfrm>
            </p:grpSpPr>
            <p:sp>
              <p:nvSpPr>
                <p:cNvPr id="248" name="矩形 247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  <a:sym typeface="+mn-ea"/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9" name="矩形 248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3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250" name="矩形 249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  <a:sym typeface="+mn-ea"/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1" name="矩形 250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0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52" name="组合 251"/>
              <p:cNvGrpSpPr/>
              <p:nvPr/>
            </p:nvGrpSpPr>
            <p:grpSpPr>
              <a:xfrm rot="0">
                <a:off x="51531" y="60098"/>
                <a:ext cx="11062" cy="5572"/>
                <a:chOff x="53765" y="17173"/>
                <a:chExt cx="9664" cy="5572"/>
              </a:xfrm>
            </p:grpSpPr>
            <p:sp>
              <p:nvSpPr>
                <p:cNvPr id="253" name="文本框 252"/>
                <p:cNvSpPr txBox="1"/>
                <p:nvPr/>
              </p:nvSpPr>
              <p:spPr>
                <a:xfrm>
                  <a:off x="53765" y="17173"/>
                  <a:ext cx="9665" cy="1584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第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一轮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(0-1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分组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)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54" name="矩形 253"/>
                <p:cNvSpPr/>
                <p:nvPr/>
              </p:nvSpPr>
              <p:spPr>
                <a:xfrm>
                  <a:off x="53765" y="18757"/>
                  <a:ext cx="9665" cy="398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255" name="组合 254"/>
                <p:cNvGrpSpPr/>
                <p:nvPr/>
              </p:nvGrpSpPr>
              <p:grpSpPr>
                <a:xfrm rot="0">
                  <a:off x="54888" y="19247"/>
                  <a:ext cx="7420" cy="2997"/>
                  <a:chOff x="431" y="349"/>
                  <a:chExt cx="3918" cy="1789"/>
                </a:xfrm>
              </p:grpSpPr>
              <p:sp>
                <p:nvSpPr>
                  <p:cNvPr id="256" name="矩形 255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en-US" altLang="zh-CN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7" name="矩形 256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258" name="矩形 257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(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殿军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)</a:t>
                    </a:r>
                    <a:endParaRPr lang="zh-CN" altLang="en-US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9" name="矩形 258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60" name="组合 259"/>
              <p:cNvGrpSpPr/>
              <p:nvPr/>
            </p:nvGrpSpPr>
            <p:grpSpPr>
              <a:xfrm rot="0">
                <a:off x="63828" y="60098"/>
                <a:ext cx="13125" cy="5572"/>
                <a:chOff x="53765" y="17173"/>
                <a:chExt cx="9664" cy="5572"/>
              </a:xfrm>
            </p:grpSpPr>
            <p:sp>
              <p:nvSpPr>
                <p:cNvPr id="261" name="文本框 260"/>
                <p:cNvSpPr txBox="1"/>
                <p:nvPr/>
              </p:nvSpPr>
              <p:spPr>
                <a:xfrm>
                  <a:off x="53765" y="17173"/>
                  <a:ext cx="9665" cy="1584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第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二轮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(1-1</a:t>
                  </a:r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分组</a:t>
                  </a:r>
                  <a:r>
                    <a:rPr lang="en-US" altLang="zh-CN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)</a:t>
                  </a:r>
                  <a:endPara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62" name="矩形 261"/>
                <p:cNvSpPr/>
                <p:nvPr/>
              </p:nvSpPr>
              <p:spPr>
                <a:xfrm>
                  <a:off x="53765" y="18757"/>
                  <a:ext cx="9665" cy="398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263" name="组合 262"/>
                <p:cNvGrpSpPr/>
                <p:nvPr/>
              </p:nvGrpSpPr>
              <p:grpSpPr>
                <a:xfrm rot="0">
                  <a:off x="54888" y="19247"/>
                  <a:ext cx="7420" cy="2997"/>
                  <a:chOff x="431" y="349"/>
                  <a:chExt cx="3918" cy="1789"/>
                </a:xfrm>
              </p:grpSpPr>
              <p:sp>
                <p:nvSpPr>
                  <p:cNvPr id="264" name="矩形 263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待定</a:t>
                    </a:r>
                    <a:endParaRPr lang="zh-CN" altLang="en-US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5" name="矩形 264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266" name="矩形 265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  <a:sym typeface="+mn-ea"/>
                      </a:rPr>
                      <a:t>待定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(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季军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)</a:t>
                    </a:r>
                    <a:r>
                      <a:rPr lang="zh-CN" altLang="en-US" sz="4550" b="1">
                        <a:solidFill>
                          <a:schemeClr val="accent1"/>
                        </a:solidFill>
                      </a:rPr>
                      <a:t>🥉</a:t>
                    </a:r>
                    <a:endParaRPr lang="zh-CN" altLang="en-US" sz="4550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267" name="矩形 266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68" name="组合 267"/>
              <p:cNvGrpSpPr/>
              <p:nvPr/>
            </p:nvGrpSpPr>
            <p:grpSpPr>
              <a:xfrm rot="0">
                <a:off x="63829" y="53952"/>
                <a:ext cx="13122" cy="5572"/>
                <a:chOff x="53765" y="17173"/>
                <a:chExt cx="9664" cy="5572"/>
              </a:xfrm>
            </p:grpSpPr>
            <p:sp>
              <p:nvSpPr>
                <p:cNvPr id="269" name="文本框 268"/>
                <p:cNvSpPr txBox="1"/>
                <p:nvPr/>
              </p:nvSpPr>
              <p:spPr>
                <a:xfrm>
                  <a:off x="53765" y="17173"/>
                  <a:ext cx="9665" cy="1584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 anchor="ctr" anchorCtr="0">
                  <a:noAutofit/>
                </a:bodyPr>
                <a:p>
                  <a:pPr algn="ctr"/>
                  <a:r>
                    <a:rPr lang="zh-CN" altLang="en-US" sz="455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总决赛</a:t>
                  </a:r>
                  <a:endPara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70" name="矩形 269"/>
                <p:cNvSpPr/>
                <p:nvPr/>
              </p:nvSpPr>
              <p:spPr>
                <a:xfrm>
                  <a:off x="53765" y="18757"/>
                  <a:ext cx="9665" cy="398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560"/>
                </a:p>
              </p:txBody>
            </p:sp>
            <p:grpSp>
              <p:nvGrpSpPr>
                <p:cNvPr id="271" name="组合 270"/>
                <p:cNvGrpSpPr/>
                <p:nvPr/>
              </p:nvGrpSpPr>
              <p:grpSpPr>
                <a:xfrm rot="0">
                  <a:off x="54888" y="19247"/>
                  <a:ext cx="7420" cy="2997"/>
                  <a:chOff x="431" y="349"/>
                  <a:chExt cx="3918" cy="1789"/>
                </a:xfrm>
              </p:grpSpPr>
              <p:sp>
                <p:nvSpPr>
                  <p:cNvPr id="272" name="矩形 271"/>
                  <p:cNvSpPr/>
                  <p:nvPr/>
                </p:nvSpPr>
                <p:spPr>
                  <a:xfrm>
                    <a:off x="431" y="349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  <a:sym typeface="+mn-ea"/>
                      </a:rPr>
                      <a:t>待定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(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冠军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)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🏆</a:t>
                    </a:r>
                    <a:endParaRPr lang="zh-CN" altLang="en-US" sz="455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3" name="矩形 272"/>
                  <p:cNvSpPr/>
                  <p:nvPr/>
                </p:nvSpPr>
                <p:spPr>
                  <a:xfrm>
                    <a:off x="3633" y="349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3</a:t>
                    </a:r>
                    <a:endParaRPr lang="en-US" sz="4550" b="1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274" name="矩形 273"/>
                  <p:cNvSpPr/>
                  <p:nvPr/>
                </p:nvSpPr>
                <p:spPr>
                  <a:xfrm>
                    <a:off x="431" y="1244"/>
                    <a:ext cx="3202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4550" b="1">
                        <a:solidFill>
                          <a:schemeClr val="tx1"/>
                        </a:solidFill>
                        <a:sym typeface="+mn-ea"/>
                      </a:rPr>
                      <a:t>待定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(</a:t>
                    </a:r>
                    <a:r>
                      <a:rPr lang="zh-CN" altLang="en-US" sz="4550" b="1">
                        <a:solidFill>
                          <a:schemeClr val="tx1"/>
                        </a:solidFill>
                      </a:rPr>
                      <a:t>亚军</a:t>
                    </a:r>
                    <a:r>
                      <a:rPr lang="en-US" altLang="zh-CN" sz="4550" b="1">
                        <a:solidFill>
                          <a:schemeClr val="tx1"/>
                        </a:solidFill>
                      </a:rPr>
                      <a:t>)</a:t>
                    </a:r>
                    <a:r>
                      <a:rPr lang="zh-CN" altLang="en-US" sz="4550" b="1">
                        <a:solidFill>
                          <a:schemeClr val="accent1"/>
                        </a:solidFill>
                      </a:rPr>
                      <a:t>🥈</a:t>
                    </a:r>
                    <a:endParaRPr lang="zh-CN" altLang="en-US" sz="4550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275" name="矩形 274"/>
                  <p:cNvSpPr/>
                  <p:nvPr/>
                </p:nvSpPr>
                <p:spPr>
                  <a:xfrm>
                    <a:off x="3633" y="1244"/>
                    <a:ext cx="717" cy="89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sz="4550" b="1">
                        <a:solidFill>
                          <a:srgbClr val="0070C0"/>
                        </a:solidFill>
                      </a:rPr>
                      <a:t>0</a:t>
                    </a:r>
                    <a:endParaRPr lang="en-US" sz="4550" b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WPS 演示</Application>
  <PresentationFormat>宽屏</PresentationFormat>
  <Paragraphs>272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Chadiy</cp:lastModifiedBy>
  <cp:revision>37</cp:revision>
  <dcterms:created xsi:type="dcterms:W3CDTF">2023-08-09T12:44:00Z</dcterms:created>
  <dcterms:modified xsi:type="dcterms:W3CDTF">2026-03-26T17:53:23Z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EC36D588B10B4BAFB362F4820491652F_12</vt:lpwstr>
  </property>
</Properties>
</file>